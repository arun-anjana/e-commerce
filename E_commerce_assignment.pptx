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Fredoka" charset="1" panose="02000000000000000000"/>
      <p:regular r:id="rId22"/>
    </p:embeddedFont>
    <p:embeddedFont>
      <p:font typeface="Quicksand" charset="1" panose="00000000000000000000"/>
      <p:regular r:id="rId23"/>
    </p:embeddedFont>
    <p:embeddedFont>
      <p:font typeface="Canva Sans" charset="1" panose="020B0503030501040103"/>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https://www.kaggle.com/datasets/rohitsahoo/sales-forecasting" TargetMode="External" Type="http://schemas.openxmlformats.org/officeDocument/2006/relationships/hyperlink"/><Relationship Id="rId3" Target="https://www.kaggle.com/datasets/rohitsahoo/sales-forecasting" TargetMode="External" Type="http://schemas.openxmlformats.org/officeDocument/2006/relationships/hyperlink"/><Relationship Id="rId4" Target="https://www.kaggle.com/datasets/rohitsahoo/sales-forecasting" TargetMode="External" Type="http://schemas.openxmlformats.org/officeDocument/2006/relationships/hyperlink"/><Relationship Id="rId5" Target="https://www.kaggle.com/datasets/rohitsahoo/sales-forecasting" TargetMode="External" Type="http://schemas.openxmlformats.org/officeDocument/2006/relationships/hyperlink"/><Relationship Id="rId6" Target="https://www.kaggle.com/datasets/rohitsahoo/sales-forecasting" TargetMode="External" Type="http://schemas.openxmlformats.org/officeDocument/2006/relationships/hyperlink"/><Relationship Id="rId7" Target="https://www.kaggle.com/datasets/rohitsahoo/sales-forecasting" TargetMode="External" Type="http://schemas.openxmlformats.org/officeDocument/2006/relationships/hyperlink"/><Relationship Id="rId8" Target="https://www.kaggle.com/datasets/rohitsahoo/sales-forecasting" TargetMode="External" Type="http://schemas.openxmlformats.org/officeDocument/2006/relationships/hyperlink"/><Relationship Id="rId9" Target="https://www.kaggle.com/datasets/rohitsahoo/sales-forecasting" TargetMode="External" Type="http://schemas.openxmlformats.org/officeDocument/2006/relationships/hyperlink"/></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4C5270"/>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6230600" cy="805478"/>
            <a:chOff x="0" y="0"/>
            <a:chExt cx="4274726" cy="212142"/>
          </a:xfrm>
        </p:grpSpPr>
        <p:sp>
          <p:nvSpPr>
            <p:cNvPr name="Freeform 3" id="3"/>
            <p:cNvSpPr/>
            <p:nvPr/>
          </p:nvSpPr>
          <p:spPr>
            <a:xfrm flipH="false" flipV="false" rot="0">
              <a:off x="0" y="0"/>
              <a:ext cx="4274726" cy="212142"/>
            </a:xfrm>
            <a:custGeom>
              <a:avLst/>
              <a:gdLst/>
              <a:ahLst/>
              <a:cxnLst/>
              <a:rect r="r" b="b" t="t" l="l"/>
              <a:pathLst>
                <a:path h="212142" w="4274726">
                  <a:moveTo>
                    <a:pt x="0" y="0"/>
                  </a:moveTo>
                  <a:lnTo>
                    <a:pt x="4274726" y="0"/>
                  </a:lnTo>
                  <a:lnTo>
                    <a:pt x="4274726" y="212142"/>
                  </a:lnTo>
                  <a:lnTo>
                    <a:pt x="0" y="212142"/>
                  </a:lnTo>
                  <a:close/>
                </a:path>
              </a:pathLst>
            </a:custGeom>
            <a:solidFill>
              <a:srgbClr val="FFFFFF"/>
            </a:solidFill>
          </p:spPr>
        </p:sp>
        <p:sp>
          <p:nvSpPr>
            <p:cNvPr name="TextBox 4" id="4"/>
            <p:cNvSpPr txBox="true"/>
            <p:nvPr/>
          </p:nvSpPr>
          <p:spPr>
            <a:xfrm>
              <a:off x="0" y="-38100"/>
              <a:ext cx="4274726" cy="250242"/>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028700" y="2357887"/>
            <a:ext cx="15944437" cy="2079626"/>
          </a:xfrm>
          <a:prstGeom prst="rect">
            <a:avLst/>
          </a:prstGeom>
        </p:spPr>
        <p:txBody>
          <a:bodyPr anchor="t" rtlCol="false" tIns="0" lIns="0" bIns="0" rIns="0">
            <a:spAutoFit/>
          </a:bodyPr>
          <a:lstStyle/>
          <a:p>
            <a:pPr algn="l">
              <a:lnSpc>
                <a:spcPts val="8000"/>
              </a:lnSpc>
            </a:pPr>
            <a:r>
              <a:rPr lang="en-US" sz="8000">
                <a:solidFill>
                  <a:srgbClr val="FFFFFF"/>
                </a:solidFill>
                <a:latin typeface="Fredoka"/>
                <a:ea typeface="Fredoka"/>
                <a:cs typeface="Fredoka"/>
                <a:sym typeface="Fredoka"/>
              </a:rPr>
              <a:t>E-COMMERCE SALES DATA </a:t>
            </a:r>
          </a:p>
          <a:p>
            <a:pPr algn="l">
              <a:lnSpc>
                <a:spcPts val="8000"/>
              </a:lnSpc>
            </a:pPr>
            <a:r>
              <a:rPr lang="en-US" sz="8000">
                <a:solidFill>
                  <a:srgbClr val="FFFFFF"/>
                </a:solidFill>
                <a:latin typeface="Fredoka"/>
                <a:ea typeface="Fredoka"/>
                <a:cs typeface="Fredoka"/>
                <a:sym typeface="Fredoka"/>
              </a:rPr>
              <a:t>ANALYSIS</a:t>
            </a:r>
          </a:p>
        </p:txBody>
      </p:sp>
      <p:grpSp>
        <p:nvGrpSpPr>
          <p:cNvPr name="Group 6" id="6"/>
          <p:cNvGrpSpPr/>
          <p:nvPr/>
        </p:nvGrpSpPr>
        <p:grpSpPr>
          <a:xfrm rot="0">
            <a:off x="1028700" y="8450580"/>
            <a:ext cx="16230600" cy="805478"/>
            <a:chOff x="0" y="0"/>
            <a:chExt cx="4274726" cy="212142"/>
          </a:xfrm>
        </p:grpSpPr>
        <p:sp>
          <p:nvSpPr>
            <p:cNvPr name="Freeform 7" id="7"/>
            <p:cNvSpPr/>
            <p:nvPr/>
          </p:nvSpPr>
          <p:spPr>
            <a:xfrm flipH="false" flipV="false" rot="0">
              <a:off x="0" y="0"/>
              <a:ext cx="4274726" cy="212142"/>
            </a:xfrm>
            <a:custGeom>
              <a:avLst/>
              <a:gdLst/>
              <a:ahLst/>
              <a:cxnLst/>
              <a:rect r="r" b="b" t="t" l="l"/>
              <a:pathLst>
                <a:path h="212142" w="4274726">
                  <a:moveTo>
                    <a:pt x="0" y="0"/>
                  </a:moveTo>
                  <a:lnTo>
                    <a:pt x="4274726" y="0"/>
                  </a:lnTo>
                  <a:lnTo>
                    <a:pt x="4274726" y="212142"/>
                  </a:lnTo>
                  <a:lnTo>
                    <a:pt x="0" y="212142"/>
                  </a:lnTo>
                  <a:close/>
                </a:path>
              </a:pathLst>
            </a:custGeom>
            <a:solidFill>
              <a:srgbClr val="FFFFFF"/>
            </a:solidFill>
          </p:spPr>
        </p:sp>
        <p:sp>
          <p:nvSpPr>
            <p:cNvPr name="TextBox 8" id="8"/>
            <p:cNvSpPr txBox="true"/>
            <p:nvPr/>
          </p:nvSpPr>
          <p:spPr>
            <a:xfrm>
              <a:off x="0" y="-38100"/>
              <a:ext cx="4274726" cy="250242"/>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2700000">
            <a:off x="10908772" y="3978227"/>
            <a:ext cx="10707063" cy="8458580"/>
          </a:xfrm>
          <a:custGeom>
            <a:avLst/>
            <a:gdLst/>
            <a:ahLst/>
            <a:cxnLst/>
            <a:rect r="r" b="b" t="t" l="l"/>
            <a:pathLst>
              <a:path h="8458580" w="10707063">
                <a:moveTo>
                  <a:pt x="0" y="0"/>
                </a:moveTo>
                <a:lnTo>
                  <a:pt x="10707063" y="0"/>
                </a:lnTo>
                <a:lnTo>
                  <a:pt x="10707063" y="8458580"/>
                </a:lnTo>
                <a:lnTo>
                  <a:pt x="0" y="8458580"/>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1292864" y="1137116"/>
            <a:ext cx="5524500" cy="502920"/>
          </a:xfrm>
          <a:prstGeom prst="rect">
            <a:avLst/>
          </a:prstGeom>
        </p:spPr>
        <p:txBody>
          <a:bodyPr anchor="t" rtlCol="false" tIns="0" lIns="0" bIns="0" rIns="0">
            <a:spAutoFit/>
          </a:bodyPr>
          <a:lstStyle/>
          <a:p>
            <a:pPr algn="l" marL="0" indent="0" lvl="0">
              <a:lnSpc>
                <a:spcPts val="4199"/>
              </a:lnSpc>
              <a:spcBef>
                <a:spcPct val="0"/>
              </a:spcBef>
            </a:pPr>
            <a:r>
              <a:rPr lang="en-US" sz="2799">
                <a:solidFill>
                  <a:srgbClr val="000000"/>
                </a:solidFill>
                <a:latin typeface="Quicksand"/>
                <a:ea typeface="Quicksand"/>
                <a:cs typeface="Quicksand"/>
                <a:sym typeface="Quicksand"/>
              </a:rPr>
              <a:t>data_science_assignment</a:t>
            </a:r>
          </a:p>
        </p:txBody>
      </p:sp>
      <p:sp>
        <p:nvSpPr>
          <p:cNvPr name="TextBox 11" id="11"/>
          <p:cNvSpPr txBox="true"/>
          <p:nvPr/>
        </p:nvSpPr>
        <p:spPr>
          <a:xfrm rot="0">
            <a:off x="1292864" y="8564880"/>
            <a:ext cx="5524500" cy="502920"/>
          </a:xfrm>
          <a:prstGeom prst="rect">
            <a:avLst/>
          </a:prstGeom>
        </p:spPr>
        <p:txBody>
          <a:bodyPr anchor="t" rtlCol="false" tIns="0" lIns="0" bIns="0" rIns="0">
            <a:spAutoFit/>
          </a:bodyPr>
          <a:lstStyle/>
          <a:p>
            <a:pPr algn="l" marL="0" indent="0" lvl="0">
              <a:lnSpc>
                <a:spcPts val="4199"/>
              </a:lnSpc>
              <a:spcBef>
                <a:spcPct val="0"/>
              </a:spcBef>
            </a:pPr>
            <a:r>
              <a:rPr lang="en-US" sz="2799">
                <a:solidFill>
                  <a:srgbClr val="000000"/>
                </a:solidFill>
                <a:latin typeface="Quicksand"/>
                <a:ea typeface="Quicksand"/>
                <a:cs typeface="Quicksand"/>
                <a:sym typeface="Quicksand"/>
              </a:rPr>
              <a:t>Submitted By -Arun Anjana</a:t>
            </a:r>
          </a:p>
        </p:txBody>
      </p:sp>
      <p:sp>
        <p:nvSpPr>
          <p:cNvPr name="TextBox 12" id="12"/>
          <p:cNvSpPr txBox="true"/>
          <p:nvPr/>
        </p:nvSpPr>
        <p:spPr>
          <a:xfrm rot="0">
            <a:off x="15287834" y="1137116"/>
            <a:ext cx="1948939" cy="502920"/>
          </a:xfrm>
          <a:prstGeom prst="rect">
            <a:avLst/>
          </a:prstGeom>
        </p:spPr>
        <p:txBody>
          <a:bodyPr anchor="t" rtlCol="false" tIns="0" lIns="0" bIns="0" rIns="0">
            <a:spAutoFit/>
          </a:bodyPr>
          <a:lstStyle/>
          <a:p>
            <a:pPr algn="l" marL="0" indent="0" lvl="0">
              <a:lnSpc>
                <a:spcPts val="4199"/>
              </a:lnSpc>
              <a:spcBef>
                <a:spcPct val="0"/>
              </a:spcBef>
            </a:pPr>
            <a:r>
              <a:rPr lang="en-US" sz="2799">
                <a:solidFill>
                  <a:srgbClr val="000000"/>
                </a:solidFill>
                <a:latin typeface="Quicksand"/>
                <a:ea typeface="Quicksand"/>
                <a:cs typeface="Quicksand"/>
                <a:sym typeface="Quicksand"/>
              </a:rPr>
              <a:t>05-07-2026</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4C5270"/>
        </a:solidFill>
      </p:bgPr>
    </p:bg>
    <p:spTree>
      <p:nvGrpSpPr>
        <p:cNvPr id="1" name=""/>
        <p:cNvGrpSpPr/>
        <p:nvPr/>
      </p:nvGrpSpPr>
      <p:grpSpPr>
        <a:xfrm>
          <a:off x="0" y="0"/>
          <a:ext cx="0" cy="0"/>
          <a:chOff x="0" y="0"/>
          <a:chExt cx="0" cy="0"/>
        </a:xfrm>
      </p:grpSpPr>
      <p:sp>
        <p:nvSpPr>
          <p:cNvPr name="TextBox 2" id="2"/>
          <p:cNvSpPr txBox="true"/>
          <p:nvPr/>
        </p:nvSpPr>
        <p:spPr>
          <a:xfrm rot="0">
            <a:off x="791394" y="613682"/>
            <a:ext cx="7957393" cy="4780915"/>
          </a:xfrm>
          <a:prstGeom prst="rect">
            <a:avLst/>
          </a:prstGeom>
        </p:spPr>
        <p:txBody>
          <a:bodyPr anchor="t" rtlCol="false" tIns="0" lIns="0" bIns="0" rIns="0">
            <a:spAutoFit/>
          </a:bodyPr>
          <a:lstStyle/>
          <a:p>
            <a:pPr algn="l">
              <a:lnSpc>
                <a:spcPts val="4759"/>
              </a:lnSpc>
            </a:pPr>
            <a:r>
              <a:rPr lang="en-US" sz="3399">
                <a:solidFill>
                  <a:srgbClr val="FFFFFF"/>
                </a:solidFill>
                <a:latin typeface="Canva Sans"/>
                <a:ea typeface="Canva Sans"/>
                <a:cs typeface="Canva Sans"/>
                <a:sym typeface="Canva Sans"/>
              </a:rPr>
              <a:t>T</a:t>
            </a:r>
            <a:r>
              <a:rPr lang="en-US" sz="3399">
                <a:solidFill>
                  <a:srgbClr val="FFFFFF"/>
                </a:solidFill>
                <a:latin typeface="Canva Sans"/>
                <a:ea typeface="Canva Sans"/>
                <a:cs typeface="Canva Sans"/>
                <a:sym typeface="Canva Sans"/>
              </a:rPr>
              <a:t>itle: Sales Data Analysis using Python</a:t>
            </a:r>
          </a:p>
          <a:p>
            <a:pPr algn="l">
              <a:lnSpc>
                <a:spcPts val="4759"/>
              </a:lnSpc>
            </a:pPr>
            <a:r>
              <a:rPr lang="en-US" sz="3399">
                <a:solidFill>
                  <a:srgbClr val="FFFFFF"/>
                </a:solidFill>
                <a:latin typeface="Canva Sans"/>
                <a:ea typeface="Canva Sans"/>
                <a:cs typeface="Canva Sans"/>
                <a:sym typeface="Canva Sans"/>
              </a:rPr>
              <a:t>Tools Used</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Python</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Pandas</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NumPy</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Matplotlib</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Jupyter Notebook</a:t>
            </a:r>
          </a:p>
          <a:p>
            <a:pPr algn="l">
              <a:lnSpc>
                <a:spcPts val="4759"/>
              </a:lnSpc>
            </a:pPr>
          </a:p>
        </p:txBody>
      </p:sp>
      <p:sp>
        <p:nvSpPr>
          <p:cNvPr name="TextBox 3" id="3"/>
          <p:cNvSpPr txBox="true"/>
          <p:nvPr/>
        </p:nvSpPr>
        <p:spPr>
          <a:xfrm rot="0">
            <a:off x="791394" y="4837339"/>
            <a:ext cx="17496606" cy="4180840"/>
          </a:xfrm>
          <a:prstGeom prst="rect">
            <a:avLst/>
          </a:prstGeom>
        </p:spPr>
        <p:txBody>
          <a:bodyPr anchor="t" rtlCol="false" tIns="0" lIns="0" bIns="0" rIns="0">
            <a:spAutoFit/>
          </a:bodyPr>
          <a:lstStyle/>
          <a:p>
            <a:pPr algn="l">
              <a:lnSpc>
                <a:spcPts val="4759"/>
              </a:lnSpc>
            </a:pPr>
            <a:r>
              <a:rPr lang="en-US" sz="3399">
                <a:solidFill>
                  <a:srgbClr val="FFFFFF"/>
                </a:solidFill>
                <a:latin typeface="Canva Sans"/>
                <a:ea typeface="Canva Sans"/>
                <a:cs typeface="Canva Sans"/>
                <a:sym typeface="Canva Sans"/>
              </a:rPr>
              <a:t>Introductio</a:t>
            </a:r>
            <a:r>
              <a:rPr lang="en-US" sz="3399">
                <a:solidFill>
                  <a:srgbClr val="FFFFFF"/>
                </a:solidFill>
                <a:latin typeface="Canva Sans"/>
                <a:ea typeface="Canva Sans"/>
                <a:cs typeface="Canva Sans"/>
                <a:sym typeface="Canva Sans"/>
              </a:rPr>
              <a:t>n</a:t>
            </a:r>
          </a:p>
          <a:p>
            <a:pPr algn="l">
              <a:lnSpc>
                <a:spcPts val="4759"/>
              </a:lnSpc>
            </a:pPr>
            <a:r>
              <a:rPr lang="en-US" sz="3399">
                <a:solidFill>
                  <a:srgbClr val="FFFFFF"/>
                </a:solidFill>
                <a:latin typeface="Canva Sans"/>
                <a:ea typeface="Canva Sans"/>
                <a:cs typeface="Canva Sans"/>
                <a:sym typeface="Canva Sans"/>
              </a:rPr>
              <a:t>The objective </a:t>
            </a:r>
            <a:r>
              <a:rPr lang="en-US" sz="3399">
                <a:solidFill>
                  <a:srgbClr val="FFFFFF"/>
                </a:solidFill>
                <a:latin typeface="Canva Sans"/>
                <a:ea typeface="Canva Sans"/>
                <a:cs typeface="Canva Sans"/>
                <a:sym typeface="Canva Sans"/>
              </a:rPr>
              <a:t>of this project is to analyze a real-world sales dataset and identify meaningful business insights using Python. The analysis focuses on customer segments, sales trends, product categories, shipping methods, and yearly sales performance. The results help businesses make better decisions related to marketing, inventory, and customer management.</a:t>
            </a:r>
          </a:p>
          <a:p>
            <a:pPr algn="l">
              <a:lnSpc>
                <a:spcPts val="4759"/>
              </a:lnSpc>
            </a:pPr>
          </a:p>
        </p:txBody>
      </p:sp>
    </p:spTree>
  </p:cSld>
  <p:clrMapOvr>
    <a:masterClrMapping/>
  </p:clrMapOvr>
  <p:transition spd="fast">
    <p:push dir="l"/>
  </p:transition>
</p:sld>
</file>

<file path=ppt/slides/slide3.xml><?xml version="1.0" encoding="utf-8"?>
<p:sld xmlns:p="http://schemas.openxmlformats.org/presentationml/2006/main" xmlns:a="http://schemas.openxmlformats.org/drawingml/2006/main">
  <p:cSld>
    <p:bg>
      <p:bgPr>
        <a:solidFill>
          <a:srgbClr val="4C5270"/>
        </a:solidFill>
      </p:bgPr>
    </p:bg>
    <p:spTree>
      <p:nvGrpSpPr>
        <p:cNvPr id="1" name=""/>
        <p:cNvGrpSpPr/>
        <p:nvPr/>
      </p:nvGrpSpPr>
      <p:grpSpPr>
        <a:xfrm>
          <a:off x="0" y="0"/>
          <a:ext cx="0" cy="0"/>
          <a:chOff x="0" y="0"/>
          <a:chExt cx="0" cy="0"/>
        </a:xfrm>
      </p:grpSpPr>
      <p:sp>
        <p:nvSpPr>
          <p:cNvPr name="TextBox 2" id="2"/>
          <p:cNvSpPr txBox="true"/>
          <p:nvPr/>
        </p:nvSpPr>
        <p:spPr>
          <a:xfrm rot="0">
            <a:off x="943794" y="766082"/>
            <a:ext cx="8666262" cy="7781290"/>
          </a:xfrm>
          <a:prstGeom prst="rect">
            <a:avLst/>
          </a:prstGeom>
        </p:spPr>
        <p:txBody>
          <a:bodyPr anchor="t" rtlCol="false" tIns="0" lIns="0" bIns="0" rIns="0">
            <a:spAutoFit/>
          </a:bodyPr>
          <a:lstStyle/>
          <a:p>
            <a:pPr algn="l">
              <a:lnSpc>
                <a:spcPts val="4759"/>
              </a:lnSpc>
            </a:pPr>
            <a:r>
              <a:rPr lang="en-US" sz="3399">
                <a:solidFill>
                  <a:srgbClr val="FFFFFF"/>
                </a:solidFill>
                <a:latin typeface="Canva Sans"/>
                <a:ea typeface="Canva Sans"/>
                <a:cs typeface="Canva Sans"/>
                <a:sym typeface="Canva Sans"/>
              </a:rPr>
              <a:t>Da</a:t>
            </a:r>
            <a:r>
              <a:rPr lang="en-US" sz="3399">
                <a:solidFill>
                  <a:srgbClr val="FFFFFF"/>
                </a:solidFill>
                <a:latin typeface="Canva Sans"/>
                <a:ea typeface="Canva Sans"/>
                <a:cs typeface="Canva Sans"/>
                <a:sym typeface="Canva Sans"/>
              </a:rPr>
              <a:t>taset Description</a:t>
            </a:r>
          </a:p>
          <a:p>
            <a:pPr algn="l">
              <a:lnSpc>
                <a:spcPts val="4759"/>
              </a:lnSpc>
            </a:pPr>
            <a:r>
              <a:rPr lang="en-US" sz="3399">
                <a:solidFill>
                  <a:srgbClr val="FFFFFF"/>
                </a:solidFill>
                <a:latin typeface="Canva Sans"/>
                <a:ea typeface="Canva Sans"/>
                <a:cs typeface="Canva Sans"/>
                <a:sym typeface="Canva Sans"/>
              </a:rPr>
              <a:t>The dataset contains information such as:</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Order ID</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Customer Name</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Category</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S</a:t>
            </a:r>
            <a:r>
              <a:rPr lang="en-US" sz="3399">
                <a:solidFill>
                  <a:srgbClr val="FFFFFF"/>
                </a:solidFill>
                <a:latin typeface="Canva Sans"/>
                <a:ea typeface="Canva Sans"/>
                <a:cs typeface="Canva Sans"/>
                <a:sym typeface="Canva Sans"/>
              </a:rPr>
              <a:t>ub Category</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S</a:t>
            </a:r>
            <a:r>
              <a:rPr lang="en-US" sz="3399">
                <a:solidFill>
                  <a:srgbClr val="FFFFFF"/>
                </a:solidFill>
                <a:latin typeface="Canva Sans"/>
                <a:ea typeface="Canva Sans"/>
                <a:cs typeface="Canva Sans"/>
                <a:sym typeface="Canva Sans"/>
              </a:rPr>
              <a:t>ales</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Profit</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Shi</a:t>
            </a:r>
            <a:r>
              <a:rPr lang="en-US" sz="3399">
                <a:solidFill>
                  <a:srgbClr val="FFFFFF"/>
                </a:solidFill>
                <a:latin typeface="Canva Sans"/>
                <a:ea typeface="Canva Sans"/>
                <a:cs typeface="Canva Sans"/>
                <a:sym typeface="Canva Sans"/>
              </a:rPr>
              <a:t>p Mode</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State</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Region</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Order Date</a:t>
            </a:r>
          </a:p>
          <a:p>
            <a:pPr algn="l">
              <a:lnSpc>
                <a:spcPts val="475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4C5270"/>
        </a:solidFill>
      </p:bgPr>
    </p:bg>
    <p:spTree>
      <p:nvGrpSpPr>
        <p:cNvPr id="1" name=""/>
        <p:cNvGrpSpPr/>
        <p:nvPr/>
      </p:nvGrpSpPr>
      <p:grpSpPr>
        <a:xfrm>
          <a:off x="0" y="0"/>
          <a:ext cx="0" cy="0"/>
          <a:chOff x="0" y="0"/>
          <a:chExt cx="0" cy="0"/>
        </a:xfrm>
      </p:grpSpPr>
      <p:sp>
        <p:nvSpPr>
          <p:cNvPr name="TextBox 2" id="2"/>
          <p:cNvSpPr txBox="true"/>
          <p:nvPr/>
        </p:nvSpPr>
        <p:spPr>
          <a:xfrm rot="0">
            <a:off x="1028700" y="971550"/>
            <a:ext cx="7414915" cy="5033645"/>
          </a:xfrm>
          <a:prstGeom prst="rect">
            <a:avLst/>
          </a:prstGeom>
        </p:spPr>
        <p:txBody>
          <a:bodyPr anchor="t" rtlCol="false" tIns="0" lIns="0" bIns="0" rIns="0">
            <a:spAutoFit/>
          </a:bodyPr>
          <a:lstStyle/>
          <a:p>
            <a:pPr algn="l">
              <a:lnSpc>
                <a:spcPts val="4480"/>
              </a:lnSpc>
            </a:pPr>
            <a:r>
              <a:rPr lang="en-US" sz="3200">
                <a:solidFill>
                  <a:srgbClr val="FFFFFF"/>
                </a:solidFill>
                <a:latin typeface="Canva Sans"/>
                <a:ea typeface="Canva Sans"/>
                <a:cs typeface="Canva Sans"/>
                <a:sym typeface="Canva Sans"/>
              </a:rPr>
              <a:t>Obj</a:t>
            </a:r>
            <a:r>
              <a:rPr lang="en-US" sz="3200">
                <a:solidFill>
                  <a:srgbClr val="FFFFFF"/>
                </a:solidFill>
                <a:latin typeface="Canva Sans"/>
                <a:ea typeface="Canva Sans"/>
                <a:cs typeface="Canva Sans"/>
                <a:sym typeface="Canva Sans"/>
              </a:rPr>
              <a:t>ectives</a:t>
            </a:r>
          </a:p>
          <a:p>
            <a:pPr algn="l" marL="690881" indent="-345440" lvl="1">
              <a:lnSpc>
                <a:spcPts val="4480"/>
              </a:lnSpc>
              <a:buFont typeface="Arial"/>
              <a:buChar char="•"/>
            </a:pPr>
            <a:r>
              <a:rPr lang="en-US" sz="3200">
                <a:solidFill>
                  <a:srgbClr val="FFFFFF"/>
                </a:solidFill>
                <a:latin typeface="Canva Sans"/>
                <a:ea typeface="Canva Sans"/>
                <a:cs typeface="Canva Sans"/>
                <a:sym typeface="Canva Sans"/>
              </a:rPr>
              <a:t>Clean t</a:t>
            </a:r>
            <a:r>
              <a:rPr lang="en-US" sz="3200">
                <a:solidFill>
                  <a:srgbClr val="FFFFFF"/>
                </a:solidFill>
                <a:latin typeface="Canva Sans"/>
                <a:ea typeface="Canva Sans"/>
                <a:cs typeface="Canva Sans"/>
                <a:sym typeface="Canva Sans"/>
              </a:rPr>
              <a:t>he dataset</a:t>
            </a:r>
          </a:p>
          <a:p>
            <a:pPr algn="l" marL="690881" indent="-345440" lvl="1">
              <a:lnSpc>
                <a:spcPts val="4480"/>
              </a:lnSpc>
              <a:buFont typeface="Arial"/>
              <a:buChar char="•"/>
            </a:pPr>
            <a:r>
              <a:rPr lang="en-US" sz="3200">
                <a:solidFill>
                  <a:srgbClr val="FFFFFF"/>
                </a:solidFill>
                <a:latin typeface="Canva Sans"/>
                <a:ea typeface="Canva Sans"/>
                <a:cs typeface="Canva Sans"/>
                <a:sym typeface="Canva Sans"/>
              </a:rPr>
              <a:t>Handle missing values</a:t>
            </a:r>
          </a:p>
          <a:p>
            <a:pPr algn="l" marL="690881" indent="-345440" lvl="1">
              <a:lnSpc>
                <a:spcPts val="4480"/>
              </a:lnSpc>
              <a:buFont typeface="Arial"/>
              <a:buChar char="•"/>
            </a:pPr>
            <a:r>
              <a:rPr lang="en-US" sz="3200">
                <a:solidFill>
                  <a:srgbClr val="FFFFFF"/>
                </a:solidFill>
                <a:latin typeface="Canva Sans"/>
                <a:ea typeface="Canva Sans"/>
                <a:cs typeface="Canva Sans"/>
                <a:sym typeface="Canva Sans"/>
              </a:rPr>
              <a:t>Perform Exploratory Data Analysis</a:t>
            </a:r>
          </a:p>
          <a:p>
            <a:pPr algn="l" marL="690881" indent="-345440" lvl="1">
              <a:lnSpc>
                <a:spcPts val="4480"/>
              </a:lnSpc>
              <a:buFont typeface="Arial"/>
              <a:buChar char="•"/>
            </a:pPr>
            <a:r>
              <a:rPr lang="en-US" sz="3200">
                <a:solidFill>
                  <a:srgbClr val="FFFFFF"/>
                </a:solidFill>
                <a:latin typeface="Canva Sans"/>
                <a:ea typeface="Canva Sans"/>
                <a:cs typeface="Canva Sans"/>
                <a:sym typeface="Canva Sans"/>
              </a:rPr>
              <a:t>Analyze sales trends</a:t>
            </a:r>
          </a:p>
          <a:p>
            <a:pPr algn="l" marL="690881" indent="-345440" lvl="1">
              <a:lnSpc>
                <a:spcPts val="4480"/>
              </a:lnSpc>
              <a:buFont typeface="Arial"/>
              <a:buChar char="•"/>
            </a:pPr>
            <a:r>
              <a:rPr lang="en-US" sz="3200">
                <a:solidFill>
                  <a:srgbClr val="FFFFFF"/>
                </a:solidFill>
                <a:latin typeface="Canva Sans"/>
                <a:ea typeface="Canva Sans"/>
                <a:cs typeface="Canva Sans"/>
                <a:sym typeface="Canva Sans"/>
              </a:rPr>
              <a:t>Discover customer behavior</a:t>
            </a:r>
          </a:p>
          <a:p>
            <a:pPr algn="l" marL="690881" indent="-345440" lvl="1">
              <a:lnSpc>
                <a:spcPts val="4480"/>
              </a:lnSpc>
              <a:buFont typeface="Arial"/>
              <a:buChar char="•"/>
            </a:pPr>
            <a:r>
              <a:rPr lang="en-US" sz="3200">
                <a:solidFill>
                  <a:srgbClr val="FFFFFF"/>
                </a:solidFill>
                <a:latin typeface="Canva Sans"/>
                <a:ea typeface="Canva Sans"/>
                <a:cs typeface="Canva Sans"/>
                <a:sym typeface="Canva Sans"/>
              </a:rPr>
              <a:t>Gen</a:t>
            </a:r>
            <a:r>
              <a:rPr lang="en-US" sz="3200">
                <a:solidFill>
                  <a:srgbClr val="FFFFFF"/>
                </a:solidFill>
                <a:latin typeface="Canva Sans"/>
                <a:ea typeface="Canva Sans"/>
                <a:cs typeface="Canva Sans"/>
                <a:sym typeface="Canva Sans"/>
              </a:rPr>
              <a:t>erate business insights</a:t>
            </a:r>
          </a:p>
          <a:p>
            <a:pPr algn="l" marL="690881" indent="-345440" lvl="1">
              <a:lnSpc>
                <a:spcPts val="4480"/>
              </a:lnSpc>
              <a:buFont typeface="Arial"/>
              <a:buChar char="•"/>
            </a:pPr>
            <a:r>
              <a:rPr lang="en-US" sz="3200">
                <a:solidFill>
                  <a:srgbClr val="FFFFFF"/>
                </a:solidFill>
                <a:latin typeface="Canva Sans"/>
                <a:ea typeface="Canva Sans"/>
                <a:cs typeface="Canva Sans"/>
                <a:sym typeface="Canva Sans"/>
              </a:rPr>
              <a:t>Provide recommendations</a:t>
            </a:r>
          </a:p>
          <a:p>
            <a:pPr algn="l">
              <a:lnSpc>
                <a:spcPts val="4480"/>
              </a:lnSpc>
            </a:pPr>
          </a:p>
        </p:txBody>
      </p:sp>
      <p:sp>
        <p:nvSpPr>
          <p:cNvPr name="Freeform 3" id="3"/>
          <p:cNvSpPr/>
          <p:nvPr/>
        </p:nvSpPr>
        <p:spPr>
          <a:xfrm flipH="false" flipV="false" rot="0">
            <a:off x="1028700" y="5453175"/>
            <a:ext cx="8973800" cy="4475165"/>
          </a:xfrm>
          <a:custGeom>
            <a:avLst/>
            <a:gdLst/>
            <a:ahLst/>
            <a:cxnLst/>
            <a:rect r="r" b="b" t="t" l="l"/>
            <a:pathLst>
              <a:path h="4475165" w="8973800">
                <a:moveTo>
                  <a:pt x="0" y="0"/>
                </a:moveTo>
                <a:lnTo>
                  <a:pt x="8973800" y="0"/>
                </a:lnTo>
                <a:lnTo>
                  <a:pt x="8973800" y="4475164"/>
                </a:lnTo>
                <a:lnTo>
                  <a:pt x="0" y="4475164"/>
                </a:lnTo>
                <a:lnTo>
                  <a:pt x="0" y="0"/>
                </a:lnTo>
                <a:close/>
              </a:path>
            </a:pathLst>
          </a:custGeom>
          <a:blipFill>
            <a:blip r:embed="rId2"/>
            <a:stretch>
              <a:fillRect l="0" t="0" r="0" b="0"/>
            </a:stretch>
          </a:blipFill>
        </p:spPr>
      </p:sp>
      <p:sp>
        <p:nvSpPr>
          <p:cNvPr name="Freeform 4" id="4"/>
          <p:cNvSpPr/>
          <p:nvPr/>
        </p:nvSpPr>
        <p:spPr>
          <a:xfrm flipH="false" flipV="false" rot="0">
            <a:off x="10176672" y="2954659"/>
            <a:ext cx="7256800" cy="6973680"/>
          </a:xfrm>
          <a:custGeom>
            <a:avLst/>
            <a:gdLst/>
            <a:ahLst/>
            <a:cxnLst/>
            <a:rect r="r" b="b" t="t" l="l"/>
            <a:pathLst>
              <a:path h="6973680" w="7256800">
                <a:moveTo>
                  <a:pt x="0" y="0"/>
                </a:moveTo>
                <a:lnTo>
                  <a:pt x="7256799" y="0"/>
                </a:lnTo>
                <a:lnTo>
                  <a:pt x="7256799" y="6973680"/>
                </a:lnTo>
                <a:lnTo>
                  <a:pt x="0" y="6973680"/>
                </a:lnTo>
                <a:lnTo>
                  <a:pt x="0" y="0"/>
                </a:lnTo>
                <a:close/>
              </a:path>
            </a:pathLst>
          </a:custGeom>
          <a:blipFill>
            <a:blip r:embed="rId3"/>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p:cSld>
    <p:bg>
      <p:bgPr>
        <a:solidFill>
          <a:srgbClr val="4C5270"/>
        </a:solidFill>
      </p:bgPr>
    </p:bg>
    <p:spTree>
      <p:nvGrpSpPr>
        <p:cNvPr id="1" name=""/>
        <p:cNvGrpSpPr/>
        <p:nvPr/>
      </p:nvGrpSpPr>
      <p:grpSpPr>
        <a:xfrm>
          <a:off x="0" y="0"/>
          <a:ext cx="0" cy="0"/>
          <a:chOff x="0" y="0"/>
          <a:chExt cx="0" cy="0"/>
        </a:xfrm>
      </p:grpSpPr>
      <p:sp>
        <p:nvSpPr>
          <p:cNvPr name="TextBox 2" id="2"/>
          <p:cNvSpPr txBox="true"/>
          <p:nvPr/>
        </p:nvSpPr>
        <p:spPr>
          <a:xfrm rot="0">
            <a:off x="1181100" y="1114425"/>
            <a:ext cx="13901589" cy="5981065"/>
          </a:xfrm>
          <a:prstGeom prst="rect">
            <a:avLst/>
          </a:prstGeom>
        </p:spPr>
        <p:txBody>
          <a:bodyPr anchor="t" rtlCol="false" tIns="0" lIns="0" bIns="0" rIns="0">
            <a:spAutoFit/>
          </a:bodyPr>
          <a:lstStyle/>
          <a:p>
            <a:pPr algn="l">
              <a:lnSpc>
                <a:spcPts val="4759"/>
              </a:lnSpc>
            </a:pPr>
            <a:r>
              <a:rPr lang="en-US" sz="3399">
                <a:solidFill>
                  <a:srgbClr val="FFFFFF"/>
                </a:solidFill>
                <a:latin typeface="Canva Sans"/>
                <a:ea typeface="Canva Sans"/>
                <a:cs typeface="Canva Sans"/>
                <a:sym typeface="Canva Sans"/>
              </a:rPr>
              <a:t>Data Cleaning</a:t>
            </a:r>
          </a:p>
          <a:p>
            <a:pPr algn="l">
              <a:lnSpc>
                <a:spcPts val="4759"/>
              </a:lnSpc>
            </a:pPr>
            <a:r>
              <a:rPr lang="en-US" sz="3399">
                <a:solidFill>
                  <a:srgbClr val="FFFFFF"/>
                </a:solidFill>
                <a:latin typeface="Canva Sans"/>
                <a:ea typeface="Canva Sans"/>
                <a:cs typeface="Canva Sans"/>
                <a:sym typeface="Canva Sans"/>
              </a:rPr>
              <a:t>The following preprocessing steps were performed before analysis:</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Imported t</a:t>
            </a:r>
            <a:r>
              <a:rPr lang="en-US" sz="3399">
                <a:solidFill>
                  <a:srgbClr val="FFFFFF"/>
                </a:solidFill>
                <a:latin typeface="Canva Sans"/>
                <a:ea typeface="Canva Sans"/>
                <a:cs typeface="Canva Sans"/>
                <a:sym typeface="Canva Sans"/>
              </a:rPr>
              <a:t>he dataset into Jupyter Notebook</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Ex</a:t>
            </a:r>
            <a:r>
              <a:rPr lang="en-US" sz="3399">
                <a:solidFill>
                  <a:srgbClr val="FFFFFF"/>
                </a:solidFill>
                <a:latin typeface="Canva Sans"/>
                <a:ea typeface="Canva Sans"/>
                <a:cs typeface="Canva Sans"/>
                <a:sym typeface="Canva Sans"/>
              </a:rPr>
              <a:t>amined the dataset structure</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Identified missing values</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Fill</a:t>
            </a:r>
            <a:r>
              <a:rPr lang="en-US" sz="3399">
                <a:solidFill>
                  <a:srgbClr val="FFFFFF"/>
                </a:solidFill>
                <a:latin typeface="Canva Sans"/>
                <a:ea typeface="Canva Sans"/>
                <a:cs typeface="Canva Sans"/>
                <a:sym typeface="Canva Sans"/>
              </a:rPr>
              <a:t>ed missing values where necessary</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Checked duplicate records</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V</a:t>
            </a:r>
            <a:r>
              <a:rPr lang="en-US" sz="3399">
                <a:solidFill>
                  <a:srgbClr val="FFFFFF"/>
                </a:solidFill>
                <a:latin typeface="Canva Sans"/>
                <a:ea typeface="Canva Sans"/>
                <a:cs typeface="Canva Sans"/>
                <a:sym typeface="Canva Sans"/>
              </a:rPr>
              <a:t>erified data types</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Prepared the dataset for analysis</a:t>
            </a:r>
          </a:p>
          <a:p>
            <a:pPr algn="l">
              <a:lnSpc>
                <a:spcPts val="475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4C527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6185489" cy="8229600"/>
          </a:xfrm>
          <a:custGeom>
            <a:avLst/>
            <a:gdLst/>
            <a:ahLst/>
            <a:cxnLst/>
            <a:rect r="r" b="b" t="t" l="l"/>
            <a:pathLst>
              <a:path h="8229600" w="6185489">
                <a:moveTo>
                  <a:pt x="0" y="0"/>
                </a:moveTo>
                <a:lnTo>
                  <a:pt x="6185489" y="0"/>
                </a:lnTo>
                <a:lnTo>
                  <a:pt x="6185489" y="8229600"/>
                </a:lnTo>
                <a:lnTo>
                  <a:pt x="0" y="8229600"/>
                </a:lnTo>
                <a:lnTo>
                  <a:pt x="0" y="0"/>
                </a:lnTo>
                <a:close/>
              </a:path>
            </a:pathLst>
          </a:custGeom>
          <a:blipFill>
            <a:blip r:embed="rId2"/>
            <a:stretch>
              <a:fillRect l="0" t="0" r="-97224" b="0"/>
            </a:stretch>
          </a:blipFill>
        </p:spPr>
      </p:sp>
      <p:sp>
        <p:nvSpPr>
          <p:cNvPr name="Freeform 3" id="3"/>
          <p:cNvSpPr/>
          <p:nvPr/>
        </p:nvSpPr>
        <p:spPr>
          <a:xfrm flipH="false" flipV="false" rot="0">
            <a:off x="8099210" y="1028700"/>
            <a:ext cx="8406581" cy="8229600"/>
          </a:xfrm>
          <a:custGeom>
            <a:avLst/>
            <a:gdLst/>
            <a:ahLst/>
            <a:cxnLst/>
            <a:rect r="r" b="b" t="t" l="l"/>
            <a:pathLst>
              <a:path h="8229600" w="8406581">
                <a:moveTo>
                  <a:pt x="0" y="0"/>
                </a:moveTo>
                <a:lnTo>
                  <a:pt x="8406581" y="0"/>
                </a:lnTo>
                <a:lnTo>
                  <a:pt x="8406581" y="8229600"/>
                </a:lnTo>
                <a:lnTo>
                  <a:pt x="0" y="8229600"/>
                </a:lnTo>
                <a:lnTo>
                  <a:pt x="0" y="0"/>
                </a:lnTo>
                <a:close/>
              </a:path>
            </a:pathLst>
          </a:custGeom>
          <a:blipFill>
            <a:blip r:embed="rId3"/>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4C527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4805797"/>
            <a:ext cx="4884281" cy="4452503"/>
          </a:xfrm>
          <a:custGeom>
            <a:avLst/>
            <a:gdLst/>
            <a:ahLst/>
            <a:cxnLst/>
            <a:rect r="r" b="b" t="t" l="l"/>
            <a:pathLst>
              <a:path h="4452503" w="4884281">
                <a:moveTo>
                  <a:pt x="0" y="0"/>
                </a:moveTo>
                <a:lnTo>
                  <a:pt x="4884281" y="0"/>
                </a:lnTo>
                <a:lnTo>
                  <a:pt x="4884281" y="4452503"/>
                </a:lnTo>
                <a:lnTo>
                  <a:pt x="0" y="4452503"/>
                </a:lnTo>
                <a:lnTo>
                  <a:pt x="0" y="0"/>
                </a:lnTo>
                <a:close/>
              </a:path>
            </a:pathLst>
          </a:custGeom>
          <a:blipFill>
            <a:blip r:embed="rId2"/>
            <a:stretch>
              <a:fillRect l="0" t="0" r="-7424" b="-4977"/>
            </a:stretch>
          </a:blipFill>
        </p:spPr>
      </p:sp>
      <p:sp>
        <p:nvSpPr>
          <p:cNvPr name="TextBox 3" id="3"/>
          <p:cNvSpPr txBox="true"/>
          <p:nvPr/>
        </p:nvSpPr>
        <p:spPr>
          <a:xfrm rot="0">
            <a:off x="1028700" y="962660"/>
            <a:ext cx="17259300" cy="4180840"/>
          </a:xfrm>
          <a:prstGeom prst="rect">
            <a:avLst/>
          </a:prstGeom>
        </p:spPr>
        <p:txBody>
          <a:bodyPr anchor="t" rtlCol="false" tIns="0" lIns="0" bIns="0" rIns="0">
            <a:spAutoFit/>
          </a:bodyPr>
          <a:lstStyle/>
          <a:p>
            <a:pPr algn="l">
              <a:lnSpc>
                <a:spcPts val="4759"/>
              </a:lnSpc>
            </a:pPr>
            <a:r>
              <a:rPr lang="en-US" sz="3399">
                <a:solidFill>
                  <a:srgbClr val="FFFFFF"/>
                </a:solidFill>
                <a:latin typeface="Canva Sans"/>
                <a:ea typeface="Canva Sans"/>
                <a:cs typeface="Canva Sans"/>
                <a:sym typeface="Canva Sans"/>
              </a:rPr>
              <a:t>Cu</a:t>
            </a:r>
            <a:r>
              <a:rPr lang="en-US" sz="3399">
                <a:solidFill>
                  <a:srgbClr val="FFFFFF"/>
                </a:solidFill>
                <a:latin typeface="Canva Sans"/>
                <a:ea typeface="Canva Sans"/>
                <a:cs typeface="Canva Sans"/>
                <a:sym typeface="Canva Sans"/>
              </a:rPr>
              <a:t>stomer Segment Analysis</a:t>
            </a:r>
          </a:p>
          <a:p>
            <a:pPr algn="l">
              <a:lnSpc>
                <a:spcPts val="4759"/>
              </a:lnSpc>
            </a:pPr>
            <a:r>
              <a:rPr lang="en-US" sz="3399">
                <a:solidFill>
                  <a:srgbClr val="FFFFFF"/>
                </a:solidFill>
                <a:latin typeface="Canva Sans"/>
                <a:ea typeface="Canva Sans"/>
                <a:cs typeface="Canva Sans"/>
                <a:sym typeface="Canva Sans"/>
              </a:rPr>
              <a:t>Objective</a:t>
            </a:r>
          </a:p>
          <a:p>
            <a:pPr algn="l">
              <a:lnSpc>
                <a:spcPts val="4759"/>
              </a:lnSpc>
            </a:pPr>
            <a:r>
              <a:rPr lang="en-US" sz="3399">
                <a:solidFill>
                  <a:srgbClr val="FFFFFF"/>
                </a:solidFill>
                <a:latin typeface="Canva Sans"/>
                <a:ea typeface="Canva Sans"/>
                <a:cs typeface="Canva Sans"/>
                <a:sym typeface="Canva Sans"/>
              </a:rPr>
              <a:t>Unde</a:t>
            </a:r>
            <a:r>
              <a:rPr lang="en-US" sz="3399">
                <a:solidFill>
                  <a:srgbClr val="FFFFFF"/>
                </a:solidFill>
                <a:latin typeface="Canva Sans"/>
                <a:ea typeface="Canva Sans"/>
                <a:cs typeface="Canva Sans"/>
                <a:sym typeface="Canva Sans"/>
              </a:rPr>
              <a:t>rstand t</a:t>
            </a:r>
            <a:r>
              <a:rPr lang="en-US" sz="3399">
                <a:solidFill>
                  <a:srgbClr val="FFFFFF"/>
                </a:solidFill>
                <a:latin typeface="Canva Sans"/>
                <a:ea typeface="Canva Sans"/>
                <a:cs typeface="Canva Sans"/>
                <a:sym typeface="Canva Sans"/>
              </a:rPr>
              <a:t>he distribution of customers across different market segments.</a:t>
            </a:r>
          </a:p>
          <a:p>
            <a:pPr algn="l">
              <a:lnSpc>
                <a:spcPts val="4759"/>
              </a:lnSpc>
            </a:pPr>
            <a:r>
              <a:rPr lang="en-US" sz="3399">
                <a:solidFill>
                  <a:srgbClr val="FFFFFF"/>
                </a:solidFill>
                <a:latin typeface="Canva Sans"/>
                <a:ea typeface="Canva Sans"/>
                <a:cs typeface="Canva Sans"/>
                <a:sym typeface="Canva Sans"/>
              </a:rPr>
              <a:t>Observat</a:t>
            </a:r>
            <a:r>
              <a:rPr lang="en-US" sz="3399">
                <a:solidFill>
                  <a:srgbClr val="FFFFFF"/>
                </a:solidFill>
                <a:latin typeface="Canva Sans"/>
                <a:ea typeface="Canva Sans"/>
                <a:cs typeface="Canva Sans"/>
                <a:sym typeface="Canva Sans"/>
              </a:rPr>
              <a:t>ion</a:t>
            </a:r>
          </a:p>
          <a:p>
            <a:pPr algn="l">
              <a:lnSpc>
                <a:spcPts val="4759"/>
              </a:lnSpc>
            </a:pPr>
            <a:r>
              <a:rPr lang="en-US" sz="3399">
                <a:solidFill>
                  <a:srgbClr val="FFFFFF"/>
                </a:solidFill>
                <a:latin typeface="Canva Sans"/>
                <a:ea typeface="Canva Sans"/>
                <a:cs typeface="Canva Sans"/>
                <a:sym typeface="Canva Sans"/>
              </a:rPr>
              <a:t>Th</a:t>
            </a:r>
            <a:r>
              <a:rPr lang="en-US" sz="3399">
                <a:solidFill>
                  <a:srgbClr val="FFFFFF"/>
                </a:solidFill>
                <a:latin typeface="Canva Sans"/>
                <a:ea typeface="Canva Sans"/>
                <a:cs typeface="Canva Sans"/>
                <a:sym typeface="Canva Sans"/>
              </a:rPr>
              <a:t>e Consumer segment contributes the largest portion of customers and overall sales.</a:t>
            </a:r>
          </a:p>
          <a:p>
            <a:pPr algn="l">
              <a:lnSpc>
                <a:spcPts val="4759"/>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4C527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4831822"/>
            <a:ext cx="4736690" cy="4426478"/>
          </a:xfrm>
          <a:custGeom>
            <a:avLst/>
            <a:gdLst/>
            <a:ahLst/>
            <a:cxnLst/>
            <a:rect r="r" b="b" t="t" l="l"/>
            <a:pathLst>
              <a:path h="4426478" w="4736690">
                <a:moveTo>
                  <a:pt x="0" y="0"/>
                </a:moveTo>
                <a:lnTo>
                  <a:pt x="4736690" y="0"/>
                </a:lnTo>
                <a:lnTo>
                  <a:pt x="4736690" y="4426478"/>
                </a:lnTo>
                <a:lnTo>
                  <a:pt x="0" y="4426478"/>
                </a:lnTo>
                <a:lnTo>
                  <a:pt x="0" y="0"/>
                </a:lnTo>
                <a:close/>
              </a:path>
            </a:pathLst>
          </a:custGeom>
          <a:blipFill>
            <a:blip r:embed="rId2"/>
            <a:stretch>
              <a:fillRect l="0" t="0" r="0" b="0"/>
            </a:stretch>
          </a:blipFill>
        </p:spPr>
      </p:sp>
      <p:sp>
        <p:nvSpPr>
          <p:cNvPr name="TextBox 3" id="3"/>
          <p:cNvSpPr txBox="true"/>
          <p:nvPr/>
        </p:nvSpPr>
        <p:spPr>
          <a:xfrm rot="0">
            <a:off x="1028700" y="962025"/>
            <a:ext cx="17106900" cy="4180840"/>
          </a:xfrm>
          <a:prstGeom prst="rect">
            <a:avLst/>
          </a:prstGeom>
        </p:spPr>
        <p:txBody>
          <a:bodyPr anchor="t" rtlCol="false" tIns="0" lIns="0" bIns="0" rIns="0">
            <a:spAutoFit/>
          </a:bodyPr>
          <a:lstStyle/>
          <a:p>
            <a:pPr algn="l">
              <a:lnSpc>
                <a:spcPts val="4759"/>
              </a:lnSpc>
            </a:pPr>
            <a:r>
              <a:rPr lang="en-US" sz="3399">
                <a:solidFill>
                  <a:srgbClr val="FFFFFF"/>
                </a:solidFill>
                <a:latin typeface="Canva Sans"/>
                <a:ea typeface="Canva Sans"/>
                <a:cs typeface="Canva Sans"/>
                <a:sym typeface="Canva Sans"/>
              </a:rPr>
              <a:t>Sale</a:t>
            </a:r>
            <a:r>
              <a:rPr lang="en-US" sz="3399">
                <a:solidFill>
                  <a:srgbClr val="FFFFFF"/>
                </a:solidFill>
                <a:latin typeface="Canva Sans"/>
                <a:ea typeface="Canva Sans"/>
                <a:cs typeface="Canva Sans"/>
                <a:sym typeface="Canva Sans"/>
              </a:rPr>
              <a:t>s by Category</a:t>
            </a:r>
          </a:p>
          <a:p>
            <a:pPr algn="l">
              <a:lnSpc>
                <a:spcPts val="4759"/>
              </a:lnSpc>
            </a:pPr>
            <a:r>
              <a:rPr lang="en-US" sz="3399">
                <a:solidFill>
                  <a:srgbClr val="FFFFFF"/>
                </a:solidFill>
                <a:latin typeface="Canva Sans"/>
                <a:ea typeface="Canva Sans"/>
                <a:cs typeface="Canva Sans"/>
                <a:sym typeface="Canva Sans"/>
              </a:rPr>
              <a:t>Objective</a:t>
            </a:r>
          </a:p>
          <a:p>
            <a:pPr algn="l">
              <a:lnSpc>
                <a:spcPts val="4759"/>
              </a:lnSpc>
            </a:pPr>
            <a:r>
              <a:rPr lang="en-US" sz="3399">
                <a:solidFill>
                  <a:srgbClr val="FFFFFF"/>
                </a:solidFill>
                <a:latin typeface="Canva Sans"/>
                <a:ea typeface="Canva Sans"/>
                <a:cs typeface="Canva Sans"/>
                <a:sym typeface="Canva Sans"/>
              </a:rPr>
              <a:t>I</a:t>
            </a:r>
            <a:r>
              <a:rPr lang="en-US" sz="3399">
                <a:solidFill>
                  <a:srgbClr val="FFFFFF"/>
                </a:solidFill>
                <a:latin typeface="Canva Sans"/>
                <a:ea typeface="Canva Sans"/>
                <a:cs typeface="Canva Sans"/>
                <a:sym typeface="Canva Sans"/>
              </a:rPr>
              <a:t>den</a:t>
            </a:r>
            <a:r>
              <a:rPr lang="en-US" sz="3399">
                <a:solidFill>
                  <a:srgbClr val="FFFFFF"/>
                </a:solidFill>
                <a:latin typeface="Canva Sans"/>
                <a:ea typeface="Canva Sans"/>
                <a:cs typeface="Canva Sans"/>
                <a:sym typeface="Canva Sans"/>
              </a:rPr>
              <a:t>tify w</a:t>
            </a:r>
            <a:r>
              <a:rPr lang="en-US" sz="3399">
                <a:solidFill>
                  <a:srgbClr val="FFFFFF"/>
                </a:solidFill>
                <a:latin typeface="Canva Sans"/>
                <a:ea typeface="Canva Sans"/>
                <a:cs typeface="Canva Sans"/>
                <a:sym typeface="Canva Sans"/>
              </a:rPr>
              <a:t>hich product category generates the highest revenue.</a:t>
            </a:r>
          </a:p>
          <a:p>
            <a:pPr algn="l">
              <a:lnSpc>
                <a:spcPts val="4759"/>
              </a:lnSpc>
            </a:pPr>
            <a:r>
              <a:rPr lang="en-US" sz="3399">
                <a:solidFill>
                  <a:srgbClr val="FFFFFF"/>
                </a:solidFill>
                <a:latin typeface="Canva Sans"/>
                <a:ea typeface="Canva Sans"/>
                <a:cs typeface="Canva Sans"/>
                <a:sym typeface="Canva Sans"/>
              </a:rPr>
              <a:t>Observat</a:t>
            </a:r>
            <a:r>
              <a:rPr lang="en-US" sz="3399">
                <a:solidFill>
                  <a:srgbClr val="FFFFFF"/>
                </a:solidFill>
                <a:latin typeface="Canva Sans"/>
                <a:ea typeface="Canva Sans"/>
                <a:cs typeface="Canva Sans"/>
                <a:sym typeface="Canva Sans"/>
              </a:rPr>
              <a:t>ion</a:t>
            </a:r>
          </a:p>
          <a:p>
            <a:pPr algn="l">
              <a:lnSpc>
                <a:spcPts val="4759"/>
              </a:lnSpc>
            </a:pPr>
            <a:r>
              <a:rPr lang="en-US" sz="3399">
                <a:solidFill>
                  <a:srgbClr val="FFFFFF"/>
                </a:solidFill>
                <a:latin typeface="Canva Sans"/>
                <a:ea typeface="Canva Sans"/>
                <a:cs typeface="Canva Sans"/>
                <a:sym typeface="Canva Sans"/>
              </a:rPr>
              <a:t>Technology</a:t>
            </a:r>
            <a:r>
              <a:rPr lang="en-US" sz="3399">
                <a:solidFill>
                  <a:srgbClr val="FFFFFF"/>
                </a:solidFill>
                <a:latin typeface="Canva Sans"/>
                <a:ea typeface="Canva Sans"/>
                <a:cs typeface="Canva Sans"/>
                <a:sym typeface="Canva Sans"/>
              </a:rPr>
              <a:t> products contribute the highest sales followed by Furniture and Office Supplies.</a:t>
            </a:r>
          </a:p>
          <a:p>
            <a:pPr algn="l">
              <a:lnSpc>
                <a:spcPts val="4759"/>
              </a:lnSpc>
            </a:pPr>
          </a:p>
        </p:txBody>
      </p:sp>
      <p:sp>
        <p:nvSpPr>
          <p:cNvPr name="Freeform 4" id="4"/>
          <p:cNvSpPr/>
          <p:nvPr/>
        </p:nvSpPr>
        <p:spPr>
          <a:xfrm flipH="false" flipV="false" rot="0">
            <a:off x="6935233" y="4831822"/>
            <a:ext cx="5460876" cy="4426478"/>
          </a:xfrm>
          <a:custGeom>
            <a:avLst/>
            <a:gdLst/>
            <a:ahLst/>
            <a:cxnLst/>
            <a:rect r="r" b="b" t="t" l="l"/>
            <a:pathLst>
              <a:path h="4426478" w="5460876">
                <a:moveTo>
                  <a:pt x="0" y="0"/>
                </a:moveTo>
                <a:lnTo>
                  <a:pt x="5460876" y="0"/>
                </a:lnTo>
                <a:lnTo>
                  <a:pt x="5460876" y="4426478"/>
                </a:lnTo>
                <a:lnTo>
                  <a:pt x="0" y="4426478"/>
                </a:lnTo>
                <a:lnTo>
                  <a:pt x="0" y="0"/>
                </a:lnTo>
                <a:close/>
              </a:path>
            </a:pathLst>
          </a:custGeom>
          <a:blipFill>
            <a:blip r:embed="rId3"/>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4C5270"/>
        </a:solidFill>
      </p:bgPr>
    </p:bg>
    <p:spTree>
      <p:nvGrpSpPr>
        <p:cNvPr id="1" name=""/>
        <p:cNvGrpSpPr/>
        <p:nvPr/>
      </p:nvGrpSpPr>
      <p:grpSpPr>
        <a:xfrm>
          <a:off x="0" y="0"/>
          <a:ext cx="0" cy="0"/>
          <a:chOff x="0" y="0"/>
          <a:chExt cx="0" cy="0"/>
        </a:xfrm>
      </p:grpSpPr>
      <p:sp>
        <p:nvSpPr>
          <p:cNvPr name="Freeform 2" id="2"/>
          <p:cNvSpPr/>
          <p:nvPr/>
        </p:nvSpPr>
        <p:spPr>
          <a:xfrm flipH="false" flipV="false" rot="0">
            <a:off x="1333500" y="4364772"/>
            <a:ext cx="5305359" cy="4893528"/>
          </a:xfrm>
          <a:custGeom>
            <a:avLst/>
            <a:gdLst/>
            <a:ahLst/>
            <a:cxnLst/>
            <a:rect r="r" b="b" t="t" l="l"/>
            <a:pathLst>
              <a:path h="4893528" w="5305359">
                <a:moveTo>
                  <a:pt x="0" y="0"/>
                </a:moveTo>
                <a:lnTo>
                  <a:pt x="5305359" y="0"/>
                </a:lnTo>
                <a:lnTo>
                  <a:pt x="5305359" y="4893528"/>
                </a:lnTo>
                <a:lnTo>
                  <a:pt x="0" y="4893528"/>
                </a:lnTo>
                <a:lnTo>
                  <a:pt x="0" y="0"/>
                </a:lnTo>
                <a:close/>
              </a:path>
            </a:pathLst>
          </a:custGeom>
          <a:blipFill>
            <a:blip r:embed="rId2"/>
            <a:stretch>
              <a:fillRect l="0" t="0" r="0" b="0"/>
            </a:stretch>
          </a:blipFill>
        </p:spPr>
      </p:sp>
      <p:sp>
        <p:nvSpPr>
          <p:cNvPr name="TextBox 3" id="3"/>
          <p:cNvSpPr txBox="true"/>
          <p:nvPr/>
        </p:nvSpPr>
        <p:spPr>
          <a:xfrm rot="0">
            <a:off x="1028700" y="962025"/>
            <a:ext cx="12209115" cy="3580765"/>
          </a:xfrm>
          <a:prstGeom prst="rect">
            <a:avLst/>
          </a:prstGeom>
        </p:spPr>
        <p:txBody>
          <a:bodyPr anchor="t" rtlCol="false" tIns="0" lIns="0" bIns="0" rIns="0">
            <a:spAutoFit/>
          </a:bodyPr>
          <a:lstStyle/>
          <a:p>
            <a:pPr algn="l">
              <a:lnSpc>
                <a:spcPts val="4759"/>
              </a:lnSpc>
            </a:pPr>
            <a:r>
              <a:rPr lang="en-US" sz="3399">
                <a:solidFill>
                  <a:srgbClr val="FFFFFF"/>
                </a:solidFill>
                <a:latin typeface="Canva Sans"/>
                <a:ea typeface="Canva Sans"/>
                <a:cs typeface="Canva Sans"/>
                <a:sym typeface="Canva Sans"/>
              </a:rPr>
              <a:t>Shipping Mode</a:t>
            </a:r>
            <a:r>
              <a:rPr lang="en-US" sz="3399">
                <a:solidFill>
                  <a:srgbClr val="FFFFFF"/>
                </a:solidFill>
                <a:latin typeface="Canva Sans"/>
                <a:ea typeface="Canva Sans"/>
                <a:cs typeface="Canva Sans"/>
                <a:sym typeface="Canva Sans"/>
              </a:rPr>
              <a:t> Analysis</a:t>
            </a:r>
          </a:p>
          <a:p>
            <a:pPr algn="l">
              <a:lnSpc>
                <a:spcPts val="4759"/>
              </a:lnSpc>
            </a:pPr>
            <a:r>
              <a:rPr lang="en-US" sz="3399">
                <a:solidFill>
                  <a:srgbClr val="FFFFFF"/>
                </a:solidFill>
                <a:latin typeface="Canva Sans"/>
                <a:ea typeface="Canva Sans"/>
                <a:cs typeface="Canva Sans"/>
                <a:sym typeface="Canva Sans"/>
              </a:rPr>
              <a:t>Objective</a:t>
            </a:r>
          </a:p>
          <a:p>
            <a:pPr algn="l">
              <a:lnSpc>
                <a:spcPts val="4759"/>
              </a:lnSpc>
            </a:pPr>
            <a:r>
              <a:rPr lang="en-US" sz="3399">
                <a:solidFill>
                  <a:srgbClr val="FFFFFF"/>
                </a:solidFill>
                <a:latin typeface="Canva Sans"/>
                <a:ea typeface="Canva Sans"/>
                <a:cs typeface="Canva Sans"/>
                <a:sym typeface="Canva Sans"/>
              </a:rPr>
              <a:t>A</a:t>
            </a:r>
            <a:r>
              <a:rPr lang="en-US" sz="3399">
                <a:solidFill>
                  <a:srgbClr val="FFFFFF"/>
                </a:solidFill>
                <a:latin typeface="Canva Sans"/>
                <a:ea typeface="Canva Sans"/>
                <a:cs typeface="Canva Sans"/>
                <a:sym typeface="Canva Sans"/>
              </a:rPr>
              <a:t>nal</a:t>
            </a:r>
            <a:r>
              <a:rPr lang="en-US" sz="3399">
                <a:solidFill>
                  <a:srgbClr val="FFFFFF"/>
                </a:solidFill>
                <a:latin typeface="Canva Sans"/>
                <a:ea typeface="Canva Sans"/>
                <a:cs typeface="Canva Sans"/>
                <a:sym typeface="Canva Sans"/>
              </a:rPr>
              <a:t>yze t</a:t>
            </a:r>
            <a:r>
              <a:rPr lang="en-US" sz="3399">
                <a:solidFill>
                  <a:srgbClr val="FFFFFF"/>
                </a:solidFill>
                <a:latin typeface="Canva Sans"/>
                <a:ea typeface="Canva Sans"/>
                <a:cs typeface="Canva Sans"/>
                <a:sym typeface="Canva Sans"/>
              </a:rPr>
              <a:t>he preferred shipping method.</a:t>
            </a:r>
          </a:p>
          <a:p>
            <a:pPr algn="l">
              <a:lnSpc>
                <a:spcPts val="4759"/>
              </a:lnSpc>
            </a:pPr>
            <a:r>
              <a:rPr lang="en-US" sz="3399">
                <a:solidFill>
                  <a:srgbClr val="FFFFFF"/>
                </a:solidFill>
                <a:latin typeface="Canva Sans"/>
                <a:ea typeface="Canva Sans"/>
                <a:cs typeface="Canva Sans"/>
                <a:sym typeface="Canva Sans"/>
              </a:rPr>
              <a:t>Observat</a:t>
            </a:r>
            <a:r>
              <a:rPr lang="en-US" sz="3399">
                <a:solidFill>
                  <a:srgbClr val="FFFFFF"/>
                </a:solidFill>
                <a:latin typeface="Canva Sans"/>
                <a:ea typeface="Canva Sans"/>
                <a:cs typeface="Canva Sans"/>
                <a:sym typeface="Canva Sans"/>
              </a:rPr>
              <a:t>ion</a:t>
            </a:r>
          </a:p>
          <a:p>
            <a:pPr algn="l">
              <a:lnSpc>
                <a:spcPts val="4759"/>
              </a:lnSpc>
            </a:pPr>
            <a:r>
              <a:rPr lang="en-US" sz="3399">
                <a:solidFill>
                  <a:srgbClr val="FFFFFF"/>
                </a:solidFill>
                <a:latin typeface="Canva Sans"/>
                <a:ea typeface="Canva Sans"/>
                <a:cs typeface="Canva Sans"/>
                <a:sym typeface="Canva Sans"/>
              </a:rPr>
              <a:t>Sta</a:t>
            </a:r>
            <a:r>
              <a:rPr lang="en-US" sz="3399">
                <a:solidFill>
                  <a:srgbClr val="FFFFFF"/>
                </a:solidFill>
                <a:latin typeface="Canva Sans"/>
                <a:ea typeface="Canva Sans"/>
                <a:cs typeface="Canva Sans"/>
                <a:sym typeface="Canva Sans"/>
              </a:rPr>
              <a:t>nda</a:t>
            </a:r>
            <a:r>
              <a:rPr lang="en-US" sz="3399">
                <a:solidFill>
                  <a:srgbClr val="FFFFFF"/>
                </a:solidFill>
                <a:latin typeface="Canva Sans"/>
                <a:ea typeface="Canva Sans"/>
                <a:cs typeface="Canva Sans"/>
                <a:sym typeface="Canva Sans"/>
              </a:rPr>
              <a:t>rd Class is the most frequently used shipping mode.</a:t>
            </a:r>
          </a:p>
          <a:p>
            <a:pPr algn="l">
              <a:lnSpc>
                <a:spcPts val="4759"/>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4C527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4111077"/>
            <a:ext cx="8709193" cy="5635360"/>
          </a:xfrm>
          <a:custGeom>
            <a:avLst/>
            <a:gdLst/>
            <a:ahLst/>
            <a:cxnLst/>
            <a:rect r="r" b="b" t="t" l="l"/>
            <a:pathLst>
              <a:path h="5635360" w="8709193">
                <a:moveTo>
                  <a:pt x="0" y="0"/>
                </a:moveTo>
                <a:lnTo>
                  <a:pt x="8709193" y="0"/>
                </a:lnTo>
                <a:lnTo>
                  <a:pt x="8709193" y="5635360"/>
                </a:lnTo>
                <a:lnTo>
                  <a:pt x="0" y="5635360"/>
                </a:lnTo>
                <a:lnTo>
                  <a:pt x="0" y="0"/>
                </a:lnTo>
                <a:close/>
              </a:path>
            </a:pathLst>
          </a:custGeom>
          <a:blipFill>
            <a:blip r:embed="rId2"/>
            <a:stretch>
              <a:fillRect l="0" t="0" r="0" b="0"/>
            </a:stretch>
          </a:blipFill>
        </p:spPr>
      </p:sp>
      <p:sp>
        <p:nvSpPr>
          <p:cNvPr name="TextBox 3" id="3"/>
          <p:cNvSpPr txBox="true"/>
          <p:nvPr/>
        </p:nvSpPr>
        <p:spPr>
          <a:xfrm rot="0">
            <a:off x="1028700" y="962025"/>
            <a:ext cx="13638461" cy="3580765"/>
          </a:xfrm>
          <a:prstGeom prst="rect">
            <a:avLst/>
          </a:prstGeom>
        </p:spPr>
        <p:txBody>
          <a:bodyPr anchor="t" rtlCol="false" tIns="0" lIns="0" bIns="0" rIns="0">
            <a:spAutoFit/>
          </a:bodyPr>
          <a:lstStyle/>
          <a:p>
            <a:pPr algn="l">
              <a:lnSpc>
                <a:spcPts val="4759"/>
              </a:lnSpc>
            </a:pPr>
            <a:r>
              <a:rPr lang="en-US" sz="3399">
                <a:solidFill>
                  <a:srgbClr val="FFFFFF"/>
                </a:solidFill>
                <a:latin typeface="Canva Sans"/>
                <a:ea typeface="Canva Sans"/>
                <a:cs typeface="Canva Sans"/>
                <a:sym typeface="Canva Sans"/>
              </a:rPr>
              <a:t>Sub-Category</a:t>
            </a:r>
            <a:r>
              <a:rPr lang="en-US" sz="3399">
                <a:solidFill>
                  <a:srgbClr val="FFFFFF"/>
                </a:solidFill>
                <a:latin typeface="Canva Sans"/>
                <a:ea typeface="Canva Sans"/>
                <a:cs typeface="Canva Sans"/>
                <a:sym typeface="Canva Sans"/>
              </a:rPr>
              <a:t> Analysis</a:t>
            </a:r>
          </a:p>
          <a:p>
            <a:pPr algn="l">
              <a:lnSpc>
                <a:spcPts val="4759"/>
              </a:lnSpc>
            </a:pPr>
            <a:r>
              <a:rPr lang="en-US" sz="3399">
                <a:solidFill>
                  <a:srgbClr val="FFFFFF"/>
                </a:solidFill>
                <a:latin typeface="Canva Sans"/>
                <a:ea typeface="Canva Sans"/>
                <a:cs typeface="Canva Sans"/>
                <a:sym typeface="Canva Sans"/>
              </a:rPr>
              <a:t>Objective</a:t>
            </a:r>
          </a:p>
          <a:p>
            <a:pPr algn="l">
              <a:lnSpc>
                <a:spcPts val="4759"/>
              </a:lnSpc>
            </a:pPr>
            <a:r>
              <a:rPr lang="en-US" sz="3399">
                <a:solidFill>
                  <a:srgbClr val="FFFFFF"/>
                </a:solidFill>
                <a:latin typeface="Canva Sans"/>
                <a:ea typeface="Canva Sans"/>
                <a:cs typeface="Canva Sans"/>
                <a:sym typeface="Canva Sans"/>
              </a:rPr>
              <a:t>Fi</a:t>
            </a:r>
            <a:r>
              <a:rPr lang="en-US" sz="3399">
                <a:solidFill>
                  <a:srgbClr val="FFFFFF"/>
                </a:solidFill>
                <a:latin typeface="Canva Sans"/>
                <a:ea typeface="Canva Sans"/>
                <a:cs typeface="Canva Sans"/>
                <a:sym typeface="Canva Sans"/>
              </a:rPr>
              <a:t>nd</a:t>
            </a:r>
            <a:r>
              <a:rPr lang="en-US" sz="3399">
                <a:solidFill>
                  <a:srgbClr val="FFFFFF"/>
                </a:solidFill>
                <a:latin typeface="Canva Sans"/>
                <a:ea typeface="Canva Sans"/>
                <a:cs typeface="Canva Sans"/>
                <a:sym typeface="Canva Sans"/>
              </a:rPr>
              <a:t> t</a:t>
            </a:r>
            <a:r>
              <a:rPr lang="en-US" sz="3399">
                <a:solidFill>
                  <a:srgbClr val="FFFFFF"/>
                </a:solidFill>
                <a:latin typeface="Canva Sans"/>
                <a:ea typeface="Canva Sans"/>
                <a:cs typeface="Canva Sans"/>
                <a:sym typeface="Canva Sans"/>
              </a:rPr>
              <a:t>he best-performing product sub-categories.</a:t>
            </a:r>
          </a:p>
          <a:p>
            <a:pPr algn="l">
              <a:lnSpc>
                <a:spcPts val="4759"/>
              </a:lnSpc>
            </a:pPr>
            <a:r>
              <a:rPr lang="en-US" sz="3399">
                <a:solidFill>
                  <a:srgbClr val="FFFFFF"/>
                </a:solidFill>
                <a:latin typeface="Canva Sans"/>
                <a:ea typeface="Canva Sans"/>
                <a:cs typeface="Canva Sans"/>
                <a:sym typeface="Canva Sans"/>
              </a:rPr>
              <a:t>Observat</a:t>
            </a:r>
            <a:r>
              <a:rPr lang="en-US" sz="3399">
                <a:solidFill>
                  <a:srgbClr val="FFFFFF"/>
                </a:solidFill>
                <a:latin typeface="Canva Sans"/>
                <a:ea typeface="Canva Sans"/>
                <a:cs typeface="Canva Sans"/>
                <a:sym typeface="Canva Sans"/>
              </a:rPr>
              <a:t>ion</a:t>
            </a:r>
          </a:p>
          <a:p>
            <a:pPr algn="l">
              <a:lnSpc>
                <a:spcPts val="4759"/>
              </a:lnSpc>
            </a:pPr>
            <a:r>
              <a:rPr lang="en-US" sz="3399">
                <a:solidFill>
                  <a:srgbClr val="FFFFFF"/>
                </a:solidFill>
                <a:latin typeface="Canva Sans"/>
                <a:ea typeface="Canva Sans"/>
                <a:cs typeface="Canva Sans"/>
                <a:sym typeface="Canva Sans"/>
              </a:rPr>
              <a:t>Pho</a:t>
            </a:r>
            <a:r>
              <a:rPr lang="en-US" sz="3399">
                <a:solidFill>
                  <a:srgbClr val="FFFFFF"/>
                </a:solidFill>
                <a:latin typeface="Canva Sans"/>
                <a:ea typeface="Canva Sans"/>
                <a:cs typeface="Canva Sans"/>
                <a:sym typeface="Canva Sans"/>
              </a:rPr>
              <a:t>nes,</a:t>
            </a:r>
            <a:r>
              <a:rPr lang="en-US" sz="3399">
                <a:solidFill>
                  <a:srgbClr val="FFFFFF"/>
                </a:solidFill>
                <a:latin typeface="Canva Sans"/>
                <a:ea typeface="Canva Sans"/>
                <a:cs typeface="Canva Sans"/>
                <a:sym typeface="Canva Sans"/>
              </a:rPr>
              <a:t> Chairs, and Storage contribute significantly to total sales.</a:t>
            </a:r>
          </a:p>
          <a:p>
            <a:pPr algn="l">
              <a:lnSpc>
                <a:spcPts val="4759"/>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4C527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622940"/>
            <a:ext cx="7734563" cy="5635360"/>
          </a:xfrm>
          <a:custGeom>
            <a:avLst/>
            <a:gdLst/>
            <a:ahLst/>
            <a:cxnLst/>
            <a:rect r="r" b="b" t="t" l="l"/>
            <a:pathLst>
              <a:path h="5635360" w="7734563">
                <a:moveTo>
                  <a:pt x="0" y="0"/>
                </a:moveTo>
                <a:lnTo>
                  <a:pt x="7734563" y="0"/>
                </a:lnTo>
                <a:lnTo>
                  <a:pt x="7734563" y="5635360"/>
                </a:lnTo>
                <a:lnTo>
                  <a:pt x="0" y="5635360"/>
                </a:lnTo>
                <a:lnTo>
                  <a:pt x="0" y="0"/>
                </a:lnTo>
                <a:close/>
              </a:path>
            </a:pathLst>
          </a:custGeom>
          <a:blipFill>
            <a:blip r:embed="rId2"/>
            <a:stretch>
              <a:fillRect l="0" t="0" r="0" b="0"/>
            </a:stretch>
          </a:blipFill>
        </p:spPr>
      </p:sp>
      <p:sp>
        <p:nvSpPr>
          <p:cNvPr name="TextBox 3" id="3"/>
          <p:cNvSpPr txBox="true"/>
          <p:nvPr/>
        </p:nvSpPr>
        <p:spPr>
          <a:xfrm rot="0">
            <a:off x="1028700" y="962025"/>
            <a:ext cx="17259300" cy="2380615"/>
          </a:xfrm>
          <a:prstGeom prst="rect">
            <a:avLst/>
          </a:prstGeom>
        </p:spPr>
        <p:txBody>
          <a:bodyPr anchor="t" rtlCol="false" tIns="0" lIns="0" bIns="0" rIns="0">
            <a:spAutoFit/>
          </a:bodyPr>
          <a:lstStyle/>
          <a:p>
            <a:pPr algn="l">
              <a:lnSpc>
                <a:spcPts val="4759"/>
              </a:lnSpc>
            </a:pPr>
            <a:r>
              <a:rPr lang="en-US" sz="3399">
                <a:solidFill>
                  <a:srgbClr val="FFFFFF"/>
                </a:solidFill>
                <a:latin typeface="Canva Sans"/>
                <a:ea typeface="Canva Sans"/>
                <a:cs typeface="Canva Sans"/>
                <a:sym typeface="Canva Sans"/>
              </a:rPr>
              <a:t>Yearly</a:t>
            </a:r>
            <a:r>
              <a:rPr lang="en-US" sz="3399">
                <a:solidFill>
                  <a:srgbClr val="FFFFFF"/>
                </a:solidFill>
                <a:latin typeface="Canva Sans"/>
                <a:ea typeface="Canva Sans"/>
                <a:cs typeface="Canva Sans"/>
                <a:sym typeface="Canva Sans"/>
              </a:rPr>
              <a:t> Sales Trend</a:t>
            </a:r>
          </a:p>
          <a:p>
            <a:pPr algn="l">
              <a:lnSpc>
                <a:spcPts val="4759"/>
              </a:lnSpc>
            </a:pPr>
            <a:r>
              <a:rPr lang="en-US" sz="3399">
                <a:solidFill>
                  <a:srgbClr val="FFFFFF"/>
                </a:solidFill>
                <a:latin typeface="Canva Sans"/>
                <a:ea typeface="Canva Sans"/>
                <a:cs typeface="Canva Sans"/>
                <a:sym typeface="Canva Sans"/>
              </a:rPr>
              <a:t>Objective - Stu</a:t>
            </a:r>
            <a:r>
              <a:rPr lang="en-US" sz="3399">
                <a:solidFill>
                  <a:srgbClr val="FFFFFF"/>
                </a:solidFill>
                <a:latin typeface="Canva Sans"/>
                <a:ea typeface="Canva Sans"/>
                <a:cs typeface="Canva Sans"/>
                <a:sym typeface="Canva Sans"/>
              </a:rPr>
              <a:t>dy</a:t>
            </a:r>
            <a:r>
              <a:rPr lang="en-US" sz="3399">
                <a:solidFill>
                  <a:srgbClr val="FFFFFF"/>
                </a:solidFill>
                <a:latin typeface="Canva Sans"/>
                <a:ea typeface="Canva Sans"/>
                <a:cs typeface="Canva Sans"/>
                <a:sym typeface="Canva Sans"/>
              </a:rPr>
              <a:t> y</a:t>
            </a:r>
            <a:r>
              <a:rPr lang="en-US" sz="3399">
                <a:solidFill>
                  <a:srgbClr val="FFFFFF"/>
                </a:solidFill>
                <a:latin typeface="Canva Sans"/>
                <a:ea typeface="Canva Sans"/>
                <a:cs typeface="Canva Sans"/>
                <a:sym typeface="Canva Sans"/>
              </a:rPr>
              <a:t>early growth in sales.</a:t>
            </a:r>
          </a:p>
          <a:p>
            <a:pPr algn="l">
              <a:lnSpc>
                <a:spcPts val="4759"/>
              </a:lnSpc>
            </a:pPr>
            <a:r>
              <a:rPr lang="en-US" sz="3399">
                <a:solidFill>
                  <a:srgbClr val="FFFFFF"/>
                </a:solidFill>
                <a:latin typeface="Canva Sans"/>
                <a:ea typeface="Canva Sans"/>
                <a:cs typeface="Canva Sans"/>
                <a:sym typeface="Canva Sans"/>
              </a:rPr>
              <a:t>Observat</a:t>
            </a:r>
            <a:r>
              <a:rPr lang="en-US" sz="3399">
                <a:solidFill>
                  <a:srgbClr val="FFFFFF"/>
                </a:solidFill>
                <a:latin typeface="Canva Sans"/>
                <a:ea typeface="Canva Sans"/>
                <a:cs typeface="Canva Sans"/>
                <a:sym typeface="Canva Sans"/>
              </a:rPr>
              <a:t>ion - </a:t>
            </a:r>
            <a:r>
              <a:rPr lang="en-US" sz="3399">
                <a:solidFill>
                  <a:srgbClr val="FFFFFF"/>
                </a:solidFill>
                <a:latin typeface="Canva Sans"/>
                <a:ea typeface="Canva Sans"/>
                <a:cs typeface="Canva Sans"/>
                <a:sym typeface="Canva Sans"/>
              </a:rPr>
              <a:t>Sal</a:t>
            </a:r>
            <a:r>
              <a:rPr lang="en-US" sz="3399">
                <a:solidFill>
                  <a:srgbClr val="FFFFFF"/>
                </a:solidFill>
                <a:latin typeface="Canva Sans"/>
                <a:ea typeface="Canva Sans"/>
                <a:cs typeface="Canva Sans"/>
                <a:sym typeface="Canva Sans"/>
              </a:rPr>
              <a:t>es</a:t>
            </a:r>
            <a:r>
              <a:rPr lang="en-US" sz="3399">
                <a:solidFill>
                  <a:srgbClr val="FFFFFF"/>
                </a:solidFill>
                <a:latin typeface="Canva Sans"/>
                <a:ea typeface="Canva Sans"/>
                <a:cs typeface="Canva Sans"/>
                <a:sym typeface="Canva Sans"/>
              </a:rPr>
              <a:t> increased steadily over the years with the highest revenue recorded in the latest year.</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4C5270"/>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505393"/>
            <a:ext cx="7750923" cy="5752907"/>
          </a:xfrm>
          <a:custGeom>
            <a:avLst/>
            <a:gdLst/>
            <a:ahLst/>
            <a:cxnLst/>
            <a:rect r="r" b="b" t="t" l="l"/>
            <a:pathLst>
              <a:path h="5752907" w="7750923">
                <a:moveTo>
                  <a:pt x="0" y="0"/>
                </a:moveTo>
                <a:lnTo>
                  <a:pt x="7750923" y="0"/>
                </a:lnTo>
                <a:lnTo>
                  <a:pt x="7750923" y="5752907"/>
                </a:lnTo>
                <a:lnTo>
                  <a:pt x="0" y="5752907"/>
                </a:lnTo>
                <a:lnTo>
                  <a:pt x="0" y="0"/>
                </a:lnTo>
                <a:close/>
              </a:path>
            </a:pathLst>
          </a:custGeom>
          <a:blipFill>
            <a:blip r:embed="rId2"/>
            <a:stretch>
              <a:fillRect l="0" t="0" r="0" b="0"/>
            </a:stretch>
          </a:blipFill>
        </p:spPr>
      </p:sp>
      <p:sp>
        <p:nvSpPr>
          <p:cNvPr name="TextBox 3" id="3"/>
          <p:cNvSpPr txBox="true"/>
          <p:nvPr/>
        </p:nvSpPr>
        <p:spPr>
          <a:xfrm rot="0">
            <a:off x="1028700" y="962025"/>
            <a:ext cx="17259300" cy="2380615"/>
          </a:xfrm>
          <a:prstGeom prst="rect">
            <a:avLst/>
          </a:prstGeom>
        </p:spPr>
        <p:txBody>
          <a:bodyPr anchor="t" rtlCol="false" tIns="0" lIns="0" bIns="0" rIns="0">
            <a:spAutoFit/>
          </a:bodyPr>
          <a:lstStyle/>
          <a:p>
            <a:pPr algn="l">
              <a:lnSpc>
                <a:spcPts val="4759"/>
              </a:lnSpc>
            </a:pPr>
            <a:r>
              <a:rPr lang="en-US" sz="3399">
                <a:solidFill>
                  <a:srgbClr val="FFFFFF"/>
                </a:solidFill>
                <a:latin typeface="Canva Sans"/>
                <a:ea typeface="Canva Sans"/>
                <a:cs typeface="Canva Sans"/>
                <a:sym typeface="Canva Sans"/>
              </a:rPr>
              <a:t>Monthly</a:t>
            </a:r>
            <a:r>
              <a:rPr lang="en-US" sz="3399">
                <a:solidFill>
                  <a:srgbClr val="FFFFFF"/>
                </a:solidFill>
                <a:latin typeface="Canva Sans"/>
                <a:ea typeface="Canva Sans"/>
                <a:cs typeface="Canva Sans"/>
                <a:sym typeface="Canva Sans"/>
              </a:rPr>
              <a:t> Sales Trend</a:t>
            </a:r>
          </a:p>
          <a:p>
            <a:pPr algn="l">
              <a:lnSpc>
                <a:spcPts val="4759"/>
              </a:lnSpc>
            </a:pPr>
            <a:r>
              <a:rPr lang="en-US" sz="3399">
                <a:solidFill>
                  <a:srgbClr val="FFFFFF"/>
                </a:solidFill>
                <a:latin typeface="Canva Sans"/>
                <a:ea typeface="Canva Sans"/>
                <a:cs typeface="Canva Sans"/>
                <a:sym typeface="Canva Sans"/>
              </a:rPr>
              <a:t>Objective - Un</a:t>
            </a:r>
            <a:r>
              <a:rPr lang="en-US" sz="3399">
                <a:solidFill>
                  <a:srgbClr val="FFFFFF"/>
                </a:solidFill>
                <a:latin typeface="Canva Sans"/>
                <a:ea typeface="Canva Sans"/>
                <a:cs typeface="Canva Sans"/>
                <a:sym typeface="Canva Sans"/>
              </a:rPr>
              <a:t>derstand monthly sales patterns.</a:t>
            </a:r>
          </a:p>
          <a:p>
            <a:pPr algn="l">
              <a:lnSpc>
                <a:spcPts val="4759"/>
              </a:lnSpc>
            </a:pPr>
            <a:r>
              <a:rPr lang="en-US" sz="3399">
                <a:solidFill>
                  <a:srgbClr val="FFFFFF"/>
                </a:solidFill>
                <a:latin typeface="Canva Sans"/>
                <a:ea typeface="Canva Sans"/>
                <a:cs typeface="Canva Sans"/>
                <a:sym typeface="Canva Sans"/>
              </a:rPr>
              <a:t>Observat</a:t>
            </a:r>
            <a:r>
              <a:rPr lang="en-US" sz="3399">
                <a:solidFill>
                  <a:srgbClr val="FFFFFF"/>
                </a:solidFill>
                <a:latin typeface="Canva Sans"/>
                <a:ea typeface="Canva Sans"/>
                <a:cs typeface="Canva Sans"/>
                <a:sym typeface="Canva Sans"/>
              </a:rPr>
              <a:t>ion - Ce</a:t>
            </a:r>
            <a:r>
              <a:rPr lang="en-US" sz="3399">
                <a:solidFill>
                  <a:srgbClr val="FFFFFF"/>
                </a:solidFill>
                <a:latin typeface="Canva Sans"/>
                <a:ea typeface="Canva Sans"/>
                <a:cs typeface="Canva Sans"/>
                <a:sym typeface="Canva Sans"/>
              </a:rPr>
              <a:t>rtain months consistently generate higher sales, indicating seasonal demand.</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4C5270"/>
        </a:solidFill>
      </p:bgPr>
    </p:bg>
    <p:spTree>
      <p:nvGrpSpPr>
        <p:cNvPr id="1" name=""/>
        <p:cNvGrpSpPr/>
        <p:nvPr/>
      </p:nvGrpSpPr>
      <p:grpSpPr>
        <a:xfrm>
          <a:off x="0" y="0"/>
          <a:ext cx="0" cy="0"/>
          <a:chOff x="0" y="0"/>
          <a:chExt cx="0" cy="0"/>
        </a:xfrm>
      </p:grpSpPr>
      <p:sp>
        <p:nvSpPr>
          <p:cNvPr name="TextBox 2" id="2"/>
          <p:cNvSpPr txBox="true"/>
          <p:nvPr/>
        </p:nvSpPr>
        <p:spPr>
          <a:xfrm rot="0">
            <a:off x="1181100" y="1114425"/>
            <a:ext cx="12406164" cy="7781290"/>
          </a:xfrm>
          <a:prstGeom prst="rect">
            <a:avLst/>
          </a:prstGeom>
        </p:spPr>
        <p:txBody>
          <a:bodyPr anchor="t" rtlCol="false" tIns="0" lIns="0" bIns="0" rIns="0">
            <a:spAutoFit/>
          </a:bodyPr>
          <a:lstStyle/>
          <a:p>
            <a:pPr algn="l">
              <a:lnSpc>
                <a:spcPts val="4759"/>
              </a:lnSpc>
            </a:pPr>
            <a:r>
              <a:rPr lang="en-US" sz="3399">
                <a:solidFill>
                  <a:srgbClr val="FFFFFF"/>
                </a:solidFill>
                <a:latin typeface="Canva Sans"/>
                <a:ea typeface="Canva Sans"/>
                <a:cs typeface="Canva Sans"/>
                <a:sym typeface="Canva Sans"/>
              </a:rPr>
              <a:t>Major Insights</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Consum</a:t>
            </a:r>
            <a:r>
              <a:rPr lang="en-US" sz="3399">
                <a:solidFill>
                  <a:srgbClr val="FFFFFF"/>
                </a:solidFill>
                <a:latin typeface="Canva Sans"/>
                <a:ea typeface="Canva Sans"/>
                <a:cs typeface="Canva Sans"/>
                <a:sym typeface="Canva Sans"/>
              </a:rPr>
              <a:t>er customers gen</a:t>
            </a:r>
            <a:r>
              <a:rPr lang="en-US" sz="3399">
                <a:solidFill>
                  <a:srgbClr val="FFFFFF"/>
                </a:solidFill>
                <a:latin typeface="Canva Sans"/>
                <a:ea typeface="Canva Sans"/>
                <a:cs typeface="Canva Sans"/>
                <a:sym typeface="Canva Sans"/>
              </a:rPr>
              <a:t>erate the highest revenue.</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Technology is the best-performing category.</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Standard Class shipping is the most preferred.</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Cal</a:t>
            </a:r>
            <a:r>
              <a:rPr lang="en-US" sz="3399">
                <a:solidFill>
                  <a:srgbClr val="FFFFFF"/>
                </a:solidFill>
                <a:latin typeface="Canva Sans"/>
                <a:ea typeface="Canva Sans"/>
                <a:cs typeface="Canva Sans"/>
                <a:sym typeface="Canva Sans"/>
              </a:rPr>
              <a:t>ifornia and New York contribute maximum </a:t>
            </a:r>
            <a:r>
              <a:rPr lang="en-US" sz="3399">
                <a:solidFill>
                  <a:srgbClr val="FFFFFF"/>
                </a:solidFill>
                <a:latin typeface="Canva Sans"/>
                <a:ea typeface="Canva Sans"/>
                <a:cs typeface="Canva Sans"/>
                <a:sym typeface="Canva Sans"/>
              </a:rPr>
              <a:t>sales.</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Ph</a:t>
            </a:r>
            <a:r>
              <a:rPr lang="en-US" sz="3399">
                <a:solidFill>
                  <a:srgbClr val="FFFFFF"/>
                </a:solidFill>
                <a:latin typeface="Canva Sans"/>
                <a:ea typeface="Canva Sans"/>
                <a:cs typeface="Canva Sans"/>
                <a:sym typeface="Canva Sans"/>
              </a:rPr>
              <a:t>ones are among the top-selling products.</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Ov</a:t>
            </a:r>
            <a:r>
              <a:rPr lang="en-US" sz="3399">
                <a:solidFill>
                  <a:srgbClr val="FFFFFF"/>
                </a:solidFill>
                <a:latin typeface="Canva Sans"/>
                <a:ea typeface="Canva Sans"/>
                <a:cs typeface="Canva Sans"/>
                <a:sym typeface="Canva Sans"/>
              </a:rPr>
              <a:t>erall sales show positive growth year by year.</a:t>
            </a:r>
          </a:p>
          <a:p>
            <a:pPr algn="l">
              <a:lnSpc>
                <a:spcPts val="4759"/>
              </a:lnSpc>
            </a:pPr>
            <a:r>
              <a:rPr lang="en-US" sz="3399">
                <a:solidFill>
                  <a:srgbClr val="FFFFFF"/>
                </a:solidFill>
                <a:latin typeface="Canva Sans"/>
                <a:ea typeface="Canva Sans"/>
                <a:cs typeface="Canva Sans"/>
                <a:sym typeface="Canva Sans"/>
              </a:rPr>
              <a:t>Recommendations</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Increase investment in Technology products.</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Improve inventory planning for high-demand products.</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Focus marketing on top-performing customer segments.</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Optimize shipping operations.</a:t>
            </a:r>
          </a:p>
          <a:p>
            <a:pPr algn="l" marL="734059" indent="-367030" lvl="1">
              <a:lnSpc>
                <a:spcPts val="4759"/>
              </a:lnSpc>
              <a:buFont typeface="Arial"/>
              <a:buChar char="•"/>
            </a:pPr>
            <a:r>
              <a:rPr lang="en-US" sz="3399">
                <a:solidFill>
                  <a:srgbClr val="FFFFFF"/>
                </a:solidFill>
                <a:latin typeface="Canva Sans"/>
                <a:ea typeface="Canva Sans"/>
                <a:cs typeface="Canva Sans"/>
                <a:sym typeface="Canva Sans"/>
              </a:rPr>
              <a:t>Reduce unnecessary discounts to improve profitability.</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4C5270"/>
        </a:solidFill>
      </p:bgPr>
    </p:bg>
    <p:spTree>
      <p:nvGrpSpPr>
        <p:cNvPr id="1" name=""/>
        <p:cNvGrpSpPr/>
        <p:nvPr/>
      </p:nvGrpSpPr>
      <p:grpSpPr>
        <a:xfrm>
          <a:off x="0" y="0"/>
          <a:ext cx="0" cy="0"/>
          <a:chOff x="0" y="0"/>
          <a:chExt cx="0" cy="0"/>
        </a:xfrm>
      </p:grpSpPr>
      <p:sp>
        <p:nvSpPr>
          <p:cNvPr name="TextBox 2" id="2"/>
          <p:cNvSpPr txBox="true"/>
          <p:nvPr/>
        </p:nvSpPr>
        <p:spPr>
          <a:xfrm rot="0">
            <a:off x="1333500" y="1266825"/>
            <a:ext cx="16954500" cy="4180840"/>
          </a:xfrm>
          <a:prstGeom prst="rect">
            <a:avLst/>
          </a:prstGeom>
        </p:spPr>
        <p:txBody>
          <a:bodyPr anchor="t" rtlCol="false" tIns="0" lIns="0" bIns="0" rIns="0">
            <a:spAutoFit/>
          </a:bodyPr>
          <a:lstStyle/>
          <a:p>
            <a:pPr algn="l">
              <a:lnSpc>
                <a:spcPts val="4759"/>
              </a:lnSpc>
            </a:pPr>
            <a:r>
              <a:rPr lang="en-US" sz="3399">
                <a:solidFill>
                  <a:srgbClr val="FFFFFF"/>
                </a:solidFill>
                <a:latin typeface="Canva Sans"/>
                <a:ea typeface="Canva Sans"/>
                <a:cs typeface="Canva Sans"/>
                <a:sym typeface="Canva Sans"/>
              </a:rPr>
              <a:t>C</a:t>
            </a:r>
            <a:r>
              <a:rPr lang="en-US" sz="3399">
                <a:solidFill>
                  <a:srgbClr val="FFFFFF"/>
                </a:solidFill>
                <a:latin typeface="Canva Sans"/>
                <a:ea typeface="Canva Sans"/>
                <a:cs typeface="Canva Sans"/>
                <a:sym typeface="Canva Sans"/>
              </a:rPr>
              <a:t>onclusi</a:t>
            </a:r>
            <a:r>
              <a:rPr lang="en-US" sz="3399">
                <a:solidFill>
                  <a:srgbClr val="FFFFFF"/>
                </a:solidFill>
                <a:latin typeface="Canva Sans"/>
                <a:ea typeface="Canva Sans"/>
                <a:cs typeface="Canva Sans"/>
                <a:sym typeface="Canva Sans"/>
              </a:rPr>
              <a:t>on</a:t>
            </a:r>
          </a:p>
          <a:p>
            <a:pPr algn="l">
              <a:lnSpc>
                <a:spcPts val="4759"/>
              </a:lnSpc>
            </a:pPr>
            <a:r>
              <a:rPr lang="en-US" sz="3399">
                <a:solidFill>
                  <a:srgbClr val="FFFFFF"/>
                </a:solidFill>
                <a:latin typeface="Canva Sans"/>
                <a:ea typeface="Canva Sans"/>
                <a:cs typeface="Canva Sans"/>
                <a:sym typeface="Canva Sans"/>
              </a:rPr>
              <a:t>This proj</a:t>
            </a:r>
            <a:r>
              <a:rPr lang="en-US" sz="3399">
                <a:solidFill>
                  <a:srgbClr val="FFFFFF"/>
                </a:solidFill>
                <a:latin typeface="Canva Sans"/>
                <a:ea typeface="Canva Sans"/>
                <a:cs typeface="Canva Sans"/>
                <a:sym typeface="Canva Sans"/>
              </a:rPr>
              <a:t>ect demonst</a:t>
            </a:r>
            <a:r>
              <a:rPr lang="en-US" sz="3399">
                <a:solidFill>
                  <a:srgbClr val="FFFFFF"/>
                </a:solidFill>
                <a:latin typeface="Canva Sans"/>
                <a:ea typeface="Canva Sans"/>
                <a:cs typeface="Canva Sans"/>
                <a:sym typeface="Canva Sans"/>
              </a:rPr>
              <a:t>rates how Python can be used to transform raw business dat</a:t>
            </a:r>
            <a:r>
              <a:rPr lang="en-US" sz="3399">
                <a:solidFill>
                  <a:srgbClr val="FFFFFF"/>
                </a:solidFill>
                <a:latin typeface="Canva Sans"/>
                <a:ea typeface="Canva Sans"/>
                <a:cs typeface="Canva Sans"/>
                <a:sym typeface="Canva Sans"/>
              </a:rPr>
              <a:t>a into meaningful in</a:t>
            </a:r>
            <a:r>
              <a:rPr lang="en-US" sz="3399">
                <a:solidFill>
                  <a:srgbClr val="FFFFFF"/>
                </a:solidFill>
                <a:latin typeface="Canva Sans"/>
                <a:ea typeface="Canva Sans"/>
                <a:cs typeface="Canva Sans"/>
                <a:sym typeface="Canva Sans"/>
              </a:rPr>
              <a:t>sig</a:t>
            </a:r>
            <a:r>
              <a:rPr lang="en-US" sz="3399">
                <a:solidFill>
                  <a:srgbClr val="FFFFFF"/>
                </a:solidFill>
                <a:latin typeface="Canva Sans"/>
                <a:ea typeface="Canva Sans"/>
                <a:cs typeface="Canva Sans"/>
                <a:sym typeface="Canva Sans"/>
              </a:rPr>
              <a:t>ht</a:t>
            </a:r>
            <a:r>
              <a:rPr lang="en-US" sz="3399">
                <a:solidFill>
                  <a:srgbClr val="FFFFFF"/>
                </a:solidFill>
                <a:latin typeface="Canva Sans"/>
                <a:ea typeface="Canva Sans"/>
                <a:cs typeface="Canva Sans"/>
                <a:sym typeface="Canva Sans"/>
              </a:rPr>
              <a:t>s through data cleaning, </a:t>
            </a:r>
            <a:r>
              <a:rPr lang="en-US" sz="3399">
                <a:solidFill>
                  <a:srgbClr val="FFFFFF"/>
                </a:solidFill>
                <a:latin typeface="Canva Sans"/>
                <a:ea typeface="Canva Sans"/>
                <a:cs typeface="Canva Sans"/>
                <a:sym typeface="Canva Sans"/>
              </a:rPr>
              <a:t>vi</a:t>
            </a:r>
            <a:r>
              <a:rPr lang="en-US" sz="3399">
                <a:solidFill>
                  <a:srgbClr val="FFFFFF"/>
                </a:solidFill>
                <a:latin typeface="Canva Sans"/>
                <a:ea typeface="Canva Sans"/>
                <a:cs typeface="Canva Sans"/>
                <a:sym typeface="Canva Sans"/>
              </a:rPr>
              <a:t>sualization, and explorat</a:t>
            </a:r>
            <a:r>
              <a:rPr lang="en-US" sz="3399">
                <a:solidFill>
                  <a:srgbClr val="FFFFFF"/>
                </a:solidFill>
                <a:latin typeface="Canva Sans"/>
                <a:ea typeface="Canva Sans"/>
                <a:cs typeface="Canva Sans"/>
                <a:sym typeface="Canva Sans"/>
              </a:rPr>
              <a:t>ory data analysis. The findings support data-driven business decisions and provide valuable recommendations for improving sales performance. This project demonstrates practical skills in data analysis, visualization, and business intelligence using Python.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4C5270"/>
        </a:solidFill>
      </p:bgPr>
    </p:bg>
    <p:spTree>
      <p:nvGrpSpPr>
        <p:cNvPr id="1" name=""/>
        <p:cNvGrpSpPr/>
        <p:nvPr/>
      </p:nvGrpSpPr>
      <p:grpSpPr>
        <a:xfrm>
          <a:off x="0" y="0"/>
          <a:ext cx="0" cy="0"/>
          <a:chOff x="0" y="0"/>
          <a:chExt cx="0" cy="0"/>
        </a:xfrm>
      </p:grpSpPr>
      <p:sp>
        <p:nvSpPr>
          <p:cNvPr name="TextBox 2" id="2"/>
          <p:cNvSpPr txBox="true"/>
          <p:nvPr/>
        </p:nvSpPr>
        <p:spPr>
          <a:xfrm rot="0">
            <a:off x="1585498" y="1518823"/>
            <a:ext cx="16458307" cy="1180465"/>
          </a:xfrm>
          <a:prstGeom prst="rect">
            <a:avLst/>
          </a:prstGeom>
        </p:spPr>
        <p:txBody>
          <a:bodyPr anchor="t" rtlCol="false" tIns="0" lIns="0" bIns="0" rIns="0">
            <a:spAutoFit/>
          </a:bodyPr>
          <a:lstStyle/>
          <a:p>
            <a:pPr algn="l">
              <a:lnSpc>
                <a:spcPts val="4759"/>
              </a:lnSpc>
            </a:pPr>
            <a:r>
              <a:rPr lang="en-US" sz="3399">
                <a:solidFill>
                  <a:srgbClr val="FFFFFF"/>
                </a:solidFill>
                <a:latin typeface="Canva Sans"/>
                <a:ea typeface="Canva Sans"/>
                <a:cs typeface="Canva Sans"/>
                <a:sym typeface="Canva Sans"/>
              </a:rPr>
              <a:t>Sales Forecasting Dataset (Kaggle)</a:t>
            </a:r>
          </a:p>
          <a:p>
            <a:pPr algn="l">
              <a:lnSpc>
                <a:spcPts val="4759"/>
              </a:lnSpc>
            </a:pPr>
            <a:r>
              <a:rPr lang="en-US" sz="3399" u="sng">
                <a:solidFill>
                  <a:srgbClr val="FFFFFF"/>
                </a:solidFill>
                <a:latin typeface="Canva Sans"/>
                <a:ea typeface="Canva Sans"/>
                <a:cs typeface="Canva Sans"/>
                <a:sym typeface="Canva Sans"/>
                <a:hlinkClick r:id="rId2" tooltip="https://www.kaggle.com/datasets/rohitsahoo/sales-forecasting"/>
              </a:rPr>
              <a:t>K</a:t>
            </a:r>
            <a:r>
              <a:rPr lang="en-US" sz="3399" u="sng">
                <a:solidFill>
                  <a:srgbClr val="FFFFFF"/>
                </a:solidFill>
                <a:latin typeface="Canva Sans"/>
                <a:ea typeface="Canva Sans"/>
                <a:cs typeface="Canva Sans"/>
                <a:sym typeface="Canva Sans"/>
                <a:hlinkClick r:id="rId3" tooltip="https://www.kaggle.com/datasets/rohitsahoo/sales-forecasting"/>
              </a:rPr>
              <a:t>ag</a:t>
            </a:r>
            <a:r>
              <a:rPr lang="en-US" sz="3399" u="sng">
                <a:solidFill>
                  <a:srgbClr val="FFFFFF"/>
                </a:solidFill>
                <a:latin typeface="Canva Sans"/>
                <a:ea typeface="Canva Sans"/>
                <a:cs typeface="Canva Sans"/>
                <a:sym typeface="Canva Sans"/>
                <a:hlinkClick r:id="rId4" tooltip="https://www.kaggle.com/datasets/rohitsahoo/sales-forecasting"/>
              </a:rPr>
              <a:t>gle D</a:t>
            </a:r>
            <a:r>
              <a:rPr lang="en-US" sz="3399" u="sng">
                <a:solidFill>
                  <a:srgbClr val="FFFFFF"/>
                </a:solidFill>
                <a:latin typeface="Canva Sans"/>
                <a:ea typeface="Canva Sans"/>
                <a:cs typeface="Canva Sans"/>
                <a:sym typeface="Canva Sans"/>
                <a:hlinkClick r:id="rId5" tooltip="https://www.kaggle.com/datasets/rohitsahoo/sales-forecasting"/>
              </a:rPr>
              <a:t>ataset:  https://www.kaggle.com/datasets/rohitsahoo/sales-forecasting </a:t>
            </a:r>
          </a:p>
        </p:txBody>
      </p:sp>
      <p:sp>
        <p:nvSpPr>
          <p:cNvPr name="TextBox 3" id="3"/>
          <p:cNvSpPr txBox="true"/>
          <p:nvPr/>
        </p:nvSpPr>
        <p:spPr>
          <a:xfrm rot="0">
            <a:off x="1695213" y="4004660"/>
            <a:ext cx="13383816" cy="1180465"/>
          </a:xfrm>
          <a:prstGeom prst="rect">
            <a:avLst/>
          </a:prstGeom>
        </p:spPr>
        <p:txBody>
          <a:bodyPr anchor="t" rtlCol="false" tIns="0" lIns="0" bIns="0" rIns="0">
            <a:spAutoFit/>
          </a:bodyPr>
          <a:lstStyle/>
          <a:p>
            <a:pPr algn="l">
              <a:lnSpc>
                <a:spcPts val="4759"/>
              </a:lnSpc>
            </a:pPr>
            <a:r>
              <a:rPr lang="en-US" sz="3399">
                <a:solidFill>
                  <a:srgbClr val="FFFFFF"/>
                </a:solidFill>
                <a:latin typeface="Canva Sans"/>
                <a:ea typeface="Canva Sans"/>
                <a:cs typeface="Canva Sans"/>
                <a:sym typeface="Canva Sans"/>
              </a:rPr>
              <a:t>Sales Forecasting Dataset (Kaggle)</a:t>
            </a:r>
          </a:p>
          <a:p>
            <a:pPr algn="l">
              <a:lnSpc>
                <a:spcPts val="4759"/>
              </a:lnSpc>
            </a:pPr>
            <a:r>
              <a:rPr lang="en-US" sz="3399" u="sng">
                <a:solidFill>
                  <a:srgbClr val="FFFFFF"/>
                </a:solidFill>
                <a:latin typeface="Canva Sans"/>
                <a:ea typeface="Canva Sans"/>
                <a:cs typeface="Canva Sans"/>
                <a:sym typeface="Canva Sans"/>
                <a:hlinkClick r:id="rId6" tooltip="https://www.kaggle.com/datasets/rohitsahoo/sales-forecasting"/>
              </a:rPr>
              <a:t>K</a:t>
            </a:r>
            <a:r>
              <a:rPr lang="en-US" sz="3399" u="sng">
                <a:solidFill>
                  <a:srgbClr val="FFFFFF"/>
                </a:solidFill>
                <a:latin typeface="Canva Sans"/>
                <a:ea typeface="Canva Sans"/>
                <a:cs typeface="Canva Sans"/>
                <a:sym typeface="Canva Sans"/>
                <a:hlinkClick r:id="rId7" tooltip="https://www.kaggle.com/datasets/rohitsahoo/sales-forecasting"/>
              </a:rPr>
              <a:t>ag</a:t>
            </a:r>
            <a:r>
              <a:rPr lang="en-US" sz="3399" u="sng">
                <a:solidFill>
                  <a:srgbClr val="FFFFFF"/>
                </a:solidFill>
                <a:latin typeface="Canva Sans"/>
                <a:ea typeface="Canva Sans"/>
                <a:cs typeface="Canva Sans"/>
                <a:sym typeface="Canva Sans"/>
                <a:hlinkClick r:id="rId8" tooltip="https://www.kaggle.com/datasets/rohitsahoo/sales-forecasting"/>
              </a:rPr>
              <a:t>gle D</a:t>
            </a:r>
            <a:r>
              <a:rPr lang="en-US" sz="3399" u="sng">
                <a:solidFill>
                  <a:srgbClr val="FFFFFF"/>
                </a:solidFill>
                <a:latin typeface="Canva Sans"/>
                <a:ea typeface="Canva Sans"/>
                <a:cs typeface="Canva Sans"/>
                <a:sym typeface="Canva Sans"/>
                <a:hlinkClick r:id="rId9" tooltip="https://www.kaggle.com/datasets/rohitsahoo/sales-forecasting"/>
              </a:rPr>
              <a:t>ataset:  https://github.com/arun-anjana/e-commerce.git </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4C5270"/>
        </a:solidFill>
      </p:bgPr>
    </p:bg>
    <p:spTree>
      <p:nvGrpSpPr>
        <p:cNvPr id="1" name=""/>
        <p:cNvGrpSpPr/>
        <p:nvPr/>
      </p:nvGrpSpPr>
      <p:grpSpPr>
        <a:xfrm>
          <a:off x="0" y="0"/>
          <a:ext cx="0" cy="0"/>
          <a:chOff x="0" y="0"/>
          <a:chExt cx="0" cy="0"/>
        </a:xfrm>
      </p:grpSpPr>
      <p:sp>
        <p:nvSpPr>
          <p:cNvPr name="Freeform 2" id="2"/>
          <p:cNvSpPr/>
          <p:nvPr/>
        </p:nvSpPr>
        <p:spPr>
          <a:xfrm flipH="false" flipV="false" rot="0">
            <a:off x="5486400" y="4112722"/>
            <a:ext cx="7315200" cy="2061556"/>
          </a:xfrm>
          <a:custGeom>
            <a:avLst/>
            <a:gdLst/>
            <a:ahLst/>
            <a:cxnLst/>
            <a:rect r="r" b="b" t="t" l="l"/>
            <a:pathLst>
              <a:path h="2061556" w="7315200">
                <a:moveTo>
                  <a:pt x="0" y="0"/>
                </a:moveTo>
                <a:lnTo>
                  <a:pt x="7315200" y="0"/>
                </a:lnTo>
                <a:lnTo>
                  <a:pt x="7315200" y="2061556"/>
                </a:lnTo>
                <a:lnTo>
                  <a:pt x="0" y="206155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DAHOdFb9tlg</dc:identifier>
  <dcterms:modified xsi:type="dcterms:W3CDTF">2011-08-01T06:04:30Z</dcterms:modified>
  <cp:revision>1</cp:revision>
  <dc:title>data_science_assignment</dc:title>
</cp:coreProperties>
</file>